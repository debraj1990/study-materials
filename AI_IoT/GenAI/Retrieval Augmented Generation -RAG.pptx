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313" r:id="rId3"/>
    <p:sldId id="314" r:id="rId4"/>
    <p:sldId id="317" r:id="rId5"/>
    <p:sldId id="315" r:id="rId6"/>
    <p:sldId id="316" r:id="rId7"/>
    <p:sldId id="257" r:id="rId8"/>
    <p:sldId id="265" r:id="rId9"/>
    <p:sldId id="304" r:id="rId10"/>
    <p:sldId id="303" r:id="rId11"/>
    <p:sldId id="305" r:id="rId12"/>
    <p:sldId id="290" r:id="rId13"/>
    <p:sldId id="295" r:id="rId14"/>
    <p:sldId id="307" r:id="rId15"/>
    <p:sldId id="299" r:id="rId16"/>
    <p:sldId id="309" r:id="rId17"/>
    <p:sldId id="308" r:id="rId18"/>
    <p:sldId id="293" r:id="rId19"/>
    <p:sldId id="312" r:id="rId20"/>
    <p:sldId id="301" r:id="rId21"/>
    <p:sldId id="29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12B857-8664-49BB-B4EE-086EF87D38AC}" type="datetimeFigureOut">
              <a:rPr lang="en-US" smtClean="0"/>
              <a:t>6/14/2024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B5AEEA-40F6-475B-87C6-ECFBCD6E7F85}" type="slidenum">
              <a:rPr lang="en-US" smtClean="0"/>
              <a:t>‹#›</a:t>
            </a:fld>
            <a:endParaRPr lang="en-US"/>
          </a:p>
        </p:txBody>
      </p:sp>
    </p:spTree>
    <p:extLst>
      <p:ext uri="{BB962C8B-B14F-4D97-AF65-F5344CB8AC3E}">
        <p14:creationId xmlns:p14="http://schemas.microsoft.com/office/powerpoint/2010/main" val="3901218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F03B8-E06B-4CD8-9D47-DB55CC1C618F}"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1799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305FD11C-88BA-43BF-81C8-D8A8B7B29F5E}" type="slidenum">
              <a:rPr lang="en-IN" smtClean="0"/>
              <a:t>21</a:t>
            </a:fld>
            <a:endParaRPr lang="en-IN"/>
          </a:p>
        </p:txBody>
      </p:sp>
    </p:spTree>
    <p:extLst>
      <p:ext uri="{BB962C8B-B14F-4D97-AF65-F5344CB8AC3E}">
        <p14:creationId xmlns:p14="http://schemas.microsoft.com/office/powerpoint/2010/main" val="1154360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89E9F-9CB3-9A9F-690B-B21029B26D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620623-829D-E485-F06C-E98DBC1039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6ED918-4E6B-E93D-5A60-54B0A87941AE}"/>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5" name="Footer Placeholder 4">
            <a:extLst>
              <a:ext uri="{FF2B5EF4-FFF2-40B4-BE49-F238E27FC236}">
                <a16:creationId xmlns:a16="http://schemas.microsoft.com/office/drawing/2014/main" id="{26712B0F-EADB-9F6F-3127-1A148C2BDD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F5D6D-6850-31D0-5BE4-6CD3ACA0DCB6}"/>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1079480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1092B-A1E4-BA08-CEBD-4609B765AA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D7D5B5-5498-B8E1-7FB8-B08A75FFA4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10911E-D3D9-3731-8D08-B7E16D625E0D}"/>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5" name="Footer Placeholder 4">
            <a:extLst>
              <a:ext uri="{FF2B5EF4-FFF2-40B4-BE49-F238E27FC236}">
                <a16:creationId xmlns:a16="http://schemas.microsoft.com/office/drawing/2014/main" id="{3A0CA9EB-7BF0-A3EA-10ED-000BBD21A8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E91492-BB5C-D7D4-DE4F-7BD313D6921F}"/>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1868852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8C81E-E599-298D-5377-1742C5FB48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1A6774-5BAD-CB80-98C1-F24B1A361D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ED0A33-C556-FE8C-AD24-1E4E8AA00A66}"/>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5" name="Footer Placeholder 4">
            <a:extLst>
              <a:ext uri="{FF2B5EF4-FFF2-40B4-BE49-F238E27FC236}">
                <a16:creationId xmlns:a16="http://schemas.microsoft.com/office/drawing/2014/main" id="{9BDB1EF7-9E28-BF06-A5EE-190979AAD6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FD792B-6745-FD92-2A38-B6347BFADCBF}"/>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1874792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B90AE-1006-3BC4-D646-B4E64EA85B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7D28F1-DEB3-B6F5-D3B5-A1FA3A0575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62EA3E-C0D9-9990-6ACD-97F5B54C5B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EF2F36-BF49-182D-1D64-D324F3219BF8}"/>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6" name="Footer Placeholder 5">
            <a:extLst>
              <a:ext uri="{FF2B5EF4-FFF2-40B4-BE49-F238E27FC236}">
                <a16:creationId xmlns:a16="http://schemas.microsoft.com/office/drawing/2014/main" id="{510C9777-228B-21EB-7CFA-78A4B58A48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8D2090-016B-A74D-4B3E-108171D9DCD5}"/>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612050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CEEB0-E5C9-3387-44D7-32ACB44164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0A7B116-652B-0859-1226-07777CF9EB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7F840-4908-6A27-CA86-69CA62A10B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3AE3BF-2216-81A0-BB7B-3AF570B978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B3DC2B-B48C-B758-2F36-30C7C018B8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B14D45-8B68-DA57-4184-1E3E7A9D516F}"/>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8" name="Footer Placeholder 7">
            <a:extLst>
              <a:ext uri="{FF2B5EF4-FFF2-40B4-BE49-F238E27FC236}">
                <a16:creationId xmlns:a16="http://schemas.microsoft.com/office/drawing/2014/main" id="{BAFD4473-67C1-71E3-6FD2-CB47DF3F6A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F662CF-84DD-DDA6-DCCA-5168C6BA11EC}"/>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2223294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A4F21-17FA-74D3-C6FF-AA9E3C75CB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31831E-F86F-8D11-DA6B-E4D0631DD99D}"/>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4" name="Footer Placeholder 3">
            <a:extLst>
              <a:ext uri="{FF2B5EF4-FFF2-40B4-BE49-F238E27FC236}">
                <a16:creationId xmlns:a16="http://schemas.microsoft.com/office/drawing/2014/main" id="{12419E03-8CBA-19C6-8159-896241334B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0261A2-2C09-5FB3-0E3D-93904B2D4C12}"/>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1985626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2CAB3E-CD79-22D6-D64C-4EE56C4EB3DA}"/>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3" name="Footer Placeholder 2">
            <a:extLst>
              <a:ext uri="{FF2B5EF4-FFF2-40B4-BE49-F238E27FC236}">
                <a16:creationId xmlns:a16="http://schemas.microsoft.com/office/drawing/2014/main" id="{393F13F0-39D1-45E3-9813-DF1E8D0805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56D02E-B19A-E339-5853-2E1DF44C9216}"/>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9138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904BA-4756-81CA-AB97-1C09592210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868095-4026-83A8-C105-57D65ED109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C1C2DC-A532-7FA2-4F14-92246F5998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E5965D-87A0-2857-719C-D9694B62BF5C}"/>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6" name="Footer Placeholder 5">
            <a:extLst>
              <a:ext uri="{FF2B5EF4-FFF2-40B4-BE49-F238E27FC236}">
                <a16:creationId xmlns:a16="http://schemas.microsoft.com/office/drawing/2014/main" id="{0A5A2271-3614-887D-4487-54A35458B2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367851-79E6-1311-275A-9BDA224978D4}"/>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4277257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6EF38-754C-5789-FD65-5493FBFE65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AE0D08-4F84-7F53-CB72-9BCDF057EE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C35468-92C7-3CE2-3E64-595B829309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52A38-D556-F3E7-843C-F801D03B39CB}"/>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6" name="Footer Placeholder 5">
            <a:extLst>
              <a:ext uri="{FF2B5EF4-FFF2-40B4-BE49-F238E27FC236}">
                <a16:creationId xmlns:a16="http://schemas.microsoft.com/office/drawing/2014/main" id="{09A16778-92D4-D7C2-ED1D-28940CA8C8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2F7925-1B36-BD1B-9C98-506F5E2BF774}"/>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3193359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DEF1A-0D91-3A3D-BE51-6940BE3769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D96BF4-25AF-60FB-74A8-4F86E6C183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4AC1CD-D003-476D-0266-974C7A3CB5E4}"/>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5" name="Footer Placeholder 4">
            <a:extLst>
              <a:ext uri="{FF2B5EF4-FFF2-40B4-BE49-F238E27FC236}">
                <a16:creationId xmlns:a16="http://schemas.microsoft.com/office/drawing/2014/main" id="{32429F00-068A-7D77-5423-B47B00DB08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325885-3123-D35C-A359-D7F08D8CF2B3}"/>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1063872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C8CBC3-66F4-0563-1870-B64D5AC311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2D4B29-763B-25D0-FDE3-39F85D6D8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599AD-7AD5-B842-10AE-D7DE3CEEBF8A}"/>
              </a:ext>
            </a:extLst>
          </p:cNvPr>
          <p:cNvSpPr>
            <a:spLocks noGrp="1"/>
          </p:cNvSpPr>
          <p:nvPr>
            <p:ph type="dt" sz="half" idx="10"/>
          </p:nvPr>
        </p:nvSpPr>
        <p:spPr/>
        <p:txBody>
          <a:bodyPr/>
          <a:lstStyle/>
          <a:p>
            <a:fld id="{A2D6C2B3-522D-4E93-90F9-4038B8367260}" type="datetimeFigureOut">
              <a:rPr lang="en-US" smtClean="0"/>
              <a:t>6/14/2024</a:t>
            </a:fld>
            <a:endParaRPr lang="en-US"/>
          </a:p>
        </p:txBody>
      </p:sp>
      <p:sp>
        <p:nvSpPr>
          <p:cNvPr id="5" name="Footer Placeholder 4">
            <a:extLst>
              <a:ext uri="{FF2B5EF4-FFF2-40B4-BE49-F238E27FC236}">
                <a16:creationId xmlns:a16="http://schemas.microsoft.com/office/drawing/2014/main" id="{B18027F1-A0D9-4BFE-D076-E59CF8AF57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CEB8A6-5841-E106-64F9-2CD2476577E4}"/>
              </a:ext>
            </a:extLst>
          </p:cNvPr>
          <p:cNvSpPr>
            <a:spLocks noGrp="1"/>
          </p:cNvSpPr>
          <p:nvPr>
            <p:ph type="sldNum" sz="quarter" idx="12"/>
          </p:nvPr>
        </p:nvSpPr>
        <p:spPr/>
        <p:txBody>
          <a:bodyPr/>
          <a:lstStyle/>
          <a:p>
            <a:fld id="{960977E4-720A-4E8F-A8D0-12B408063E61}" type="slidenum">
              <a:rPr lang="en-US" smtClean="0"/>
              <a:t>‹#›</a:t>
            </a:fld>
            <a:endParaRPr lang="en-US"/>
          </a:p>
        </p:txBody>
      </p:sp>
    </p:spTree>
    <p:extLst>
      <p:ext uri="{BB962C8B-B14F-4D97-AF65-F5344CB8AC3E}">
        <p14:creationId xmlns:p14="http://schemas.microsoft.com/office/powerpoint/2010/main" val="3120344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A428F6-F3EA-1842-50E3-0D23096F0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ABFB39-3890-C84C-442F-88596E431E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F0661B-C2E2-A173-CB15-8F87E04895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D6C2B3-522D-4E93-90F9-4038B8367260}" type="datetimeFigureOut">
              <a:rPr lang="en-US" smtClean="0"/>
              <a:t>6/14/2024</a:t>
            </a:fld>
            <a:endParaRPr lang="en-US"/>
          </a:p>
        </p:txBody>
      </p:sp>
      <p:sp>
        <p:nvSpPr>
          <p:cNvPr id="5" name="Footer Placeholder 4">
            <a:extLst>
              <a:ext uri="{FF2B5EF4-FFF2-40B4-BE49-F238E27FC236}">
                <a16:creationId xmlns:a16="http://schemas.microsoft.com/office/drawing/2014/main" id="{404AA22F-1FE5-5809-2D01-460ABDC550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357C10-435E-56BF-6C11-814C11E333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0977E4-720A-4E8F-A8D0-12B408063E61}" type="slidenum">
              <a:rPr lang="en-US" smtClean="0"/>
              <a:t>‹#›</a:t>
            </a:fld>
            <a:endParaRPr lang="en-US"/>
          </a:p>
        </p:txBody>
      </p:sp>
    </p:spTree>
    <p:extLst>
      <p:ext uri="{BB962C8B-B14F-4D97-AF65-F5344CB8AC3E}">
        <p14:creationId xmlns:p14="http://schemas.microsoft.com/office/powerpoint/2010/main" val="4126695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trulens.org/trulens_eval/getting_started/quickstarts/langchain_quickstart/#retrieve-records-and-feedback" TargetMode="External"/><Relationship Id="rId2" Type="http://schemas.openxmlformats.org/officeDocument/2006/relationships/hyperlink" Target="https://medium.aiplanet.com/evaluate-rag-pipeline-using-ragas-fbdd8dd466c1" TargetMode="External"/><Relationship Id="rId1" Type="http://schemas.openxmlformats.org/officeDocument/2006/relationships/slideLayout" Target="../slideLayouts/slideLayout7.xml"/><Relationship Id="rId4" Type="http://schemas.openxmlformats.org/officeDocument/2006/relationships/hyperlink" Target="https://www.trulens.org/trulens_eval/getting_started/quickstarts/llama_index_quickstar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83556-4C77-CA46-2DC8-148F4B1AEE90}"/>
              </a:ext>
            </a:extLst>
          </p:cNvPr>
          <p:cNvSpPr>
            <a:spLocks noGrp="1"/>
          </p:cNvSpPr>
          <p:nvPr>
            <p:ph type="ctrTitle"/>
          </p:nvPr>
        </p:nvSpPr>
        <p:spPr/>
        <p:txBody>
          <a:bodyPr/>
          <a:lstStyle/>
          <a:p>
            <a:r>
              <a:rPr lang="en-IN" sz="6000" dirty="0" err="1">
                <a:solidFill>
                  <a:schemeClr val="accent1">
                    <a:lumMod val="50000"/>
                  </a:schemeClr>
                </a:solidFill>
              </a:rPr>
              <a:t>GenAI</a:t>
            </a:r>
            <a:r>
              <a:rPr lang="en-IN" sz="6000" dirty="0">
                <a:solidFill>
                  <a:schemeClr val="accent1">
                    <a:lumMod val="50000"/>
                  </a:schemeClr>
                </a:solidFill>
              </a:rPr>
              <a:t> and Retrieval Augmented Generation -RAG</a:t>
            </a:r>
            <a:endParaRPr lang="en-US" dirty="0"/>
          </a:p>
        </p:txBody>
      </p:sp>
      <p:sp>
        <p:nvSpPr>
          <p:cNvPr id="3" name="Subtitle 2">
            <a:extLst>
              <a:ext uri="{FF2B5EF4-FFF2-40B4-BE49-F238E27FC236}">
                <a16:creationId xmlns:a16="http://schemas.microsoft.com/office/drawing/2014/main" id="{EE010643-9EB1-E750-CB0B-D3CDAA4F047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88392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8A4B4-AED3-095B-9F74-1B9244FD17A5}"/>
              </a:ext>
            </a:extLst>
          </p:cNvPr>
          <p:cNvSpPr>
            <a:spLocks noGrp="1"/>
          </p:cNvSpPr>
          <p:nvPr>
            <p:ph type="title"/>
          </p:nvPr>
        </p:nvSpPr>
        <p:spPr/>
        <p:txBody>
          <a:bodyPr/>
          <a:lstStyle/>
          <a:p>
            <a:r>
              <a:rPr lang="en-US" dirty="0"/>
              <a:t>What is </a:t>
            </a:r>
            <a:r>
              <a:rPr lang="en-US" dirty="0" err="1"/>
              <a:t>GenAI</a:t>
            </a:r>
            <a:r>
              <a:rPr lang="en-US" dirty="0"/>
              <a:t>	</a:t>
            </a:r>
          </a:p>
        </p:txBody>
      </p:sp>
      <p:sp>
        <p:nvSpPr>
          <p:cNvPr id="3" name="Content Placeholder 2">
            <a:extLst>
              <a:ext uri="{FF2B5EF4-FFF2-40B4-BE49-F238E27FC236}">
                <a16:creationId xmlns:a16="http://schemas.microsoft.com/office/drawing/2014/main" id="{5291C362-4F87-E280-65DD-8F0EF9F8A0D2}"/>
              </a:ext>
            </a:extLst>
          </p:cNvPr>
          <p:cNvSpPr>
            <a:spLocks noGrp="1"/>
          </p:cNvSpPr>
          <p:nvPr>
            <p:ph idx="1"/>
          </p:nvPr>
        </p:nvSpPr>
        <p:spPr/>
        <p:txBody>
          <a:bodyPr/>
          <a:lstStyle/>
          <a:p>
            <a:r>
              <a:rPr lang="en-US" dirty="0"/>
              <a:t>Generative AI (</a:t>
            </a:r>
            <a:r>
              <a:rPr lang="en-US" dirty="0" err="1"/>
              <a:t>genAI</a:t>
            </a:r>
            <a:r>
              <a:rPr lang="en-US" dirty="0"/>
              <a:t>) is a broad label describing any type of artificial intelligence (AI) that can produce new text, images, video, or audio clips.</a:t>
            </a:r>
          </a:p>
          <a:p>
            <a:r>
              <a:rPr lang="en-US" dirty="0"/>
              <a:t>Technically, this type of AI learns patterns from training data and generates new, unique outputs with the same statistical properties.</a:t>
            </a:r>
          </a:p>
          <a:p>
            <a:r>
              <a:rPr lang="en-US" dirty="0"/>
              <a:t>These are deep neural networks trained with many layers on vast amount of data.</a:t>
            </a:r>
          </a:p>
        </p:txBody>
      </p:sp>
    </p:spTree>
    <p:extLst>
      <p:ext uri="{BB962C8B-B14F-4D97-AF65-F5344CB8AC3E}">
        <p14:creationId xmlns:p14="http://schemas.microsoft.com/office/powerpoint/2010/main" val="2854580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73ACF-6813-6740-AB80-F8B3ECABE294}"/>
              </a:ext>
            </a:extLst>
          </p:cNvPr>
          <p:cNvSpPr>
            <a:spLocks noGrp="1"/>
          </p:cNvSpPr>
          <p:nvPr>
            <p:ph type="title"/>
          </p:nvPr>
        </p:nvSpPr>
        <p:spPr/>
        <p:txBody>
          <a:bodyPr/>
          <a:lstStyle/>
          <a:p>
            <a:r>
              <a:rPr lang="en-US" dirty="0"/>
              <a:t>Types of </a:t>
            </a:r>
            <a:r>
              <a:rPr lang="en-US" dirty="0" err="1"/>
              <a:t>GenAI</a:t>
            </a:r>
            <a:r>
              <a:rPr lang="en-US" dirty="0"/>
              <a:t>	</a:t>
            </a:r>
          </a:p>
        </p:txBody>
      </p:sp>
      <p:sp>
        <p:nvSpPr>
          <p:cNvPr id="3" name="Content Placeholder 2">
            <a:extLst>
              <a:ext uri="{FF2B5EF4-FFF2-40B4-BE49-F238E27FC236}">
                <a16:creationId xmlns:a16="http://schemas.microsoft.com/office/drawing/2014/main" id="{75A84F8D-1D55-EED2-C963-26E386715BBD}"/>
              </a:ext>
            </a:extLst>
          </p:cNvPr>
          <p:cNvSpPr>
            <a:spLocks noGrp="1"/>
          </p:cNvSpPr>
          <p:nvPr>
            <p:ph idx="1"/>
          </p:nvPr>
        </p:nvSpPr>
        <p:spPr>
          <a:xfrm>
            <a:off x="838199" y="1805234"/>
            <a:ext cx="5517631" cy="3973474"/>
          </a:xfrm>
        </p:spPr>
        <p:txBody>
          <a:bodyPr>
            <a:normAutofit/>
          </a:bodyPr>
          <a:lstStyle/>
          <a:p>
            <a:r>
              <a:rPr lang="en-US" sz="1800" b="1" dirty="0"/>
              <a:t>Generative Adversarial Networks (GANs): </a:t>
            </a:r>
            <a:r>
              <a:rPr lang="en-US" sz="1800" dirty="0"/>
              <a:t>Consists of two networks generator and discriminator.</a:t>
            </a:r>
          </a:p>
          <a:p>
            <a:r>
              <a:rPr lang="en-US" sz="1800" b="1" dirty="0"/>
              <a:t>Variable Auto Encoder(VAE): </a:t>
            </a:r>
            <a:r>
              <a:rPr lang="en-US" sz="1800" dirty="0"/>
              <a:t>Consists of an encoder and a decoder.</a:t>
            </a:r>
            <a:r>
              <a:rPr lang="en-US" sz="1800" b="0" i="0" dirty="0">
                <a:solidFill>
                  <a:srgbClr val="2E364E"/>
                </a:solidFill>
                <a:effectLst/>
                <a:highlight>
                  <a:srgbClr val="FFFFFF"/>
                </a:highlight>
                <a:latin typeface="helveticaregular"/>
              </a:rPr>
              <a:t> </a:t>
            </a:r>
            <a:r>
              <a:rPr lang="en-US" sz="1800" dirty="0"/>
              <a:t>The encoder takes input data and compresses it into a latent space representation that preserves its most important features</a:t>
            </a:r>
          </a:p>
          <a:p>
            <a:r>
              <a:rPr lang="en-US" sz="1800" b="1" dirty="0"/>
              <a:t>Transformers</a:t>
            </a:r>
            <a:r>
              <a:rPr lang="en-US" sz="1800" dirty="0"/>
              <a:t>: consist of multiple stacked layers, each containing its own self-attention mechanism and feed-forward network. The task of this network is to guess the next word in the sequence.</a:t>
            </a:r>
          </a:p>
        </p:txBody>
      </p:sp>
      <p:pic>
        <p:nvPicPr>
          <p:cNvPr id="1026" name="Picture 2" descr="GAN, VAE, Transformer, Hybrid Generative AI">
            <a:extLst>
              <a:ext uri="{FF2B5EF4-FFF2-40B4-BE49-F238E27FC236}">
                <a16:creationId xmlns:a16="http://schemas.microsoft.com/office/drawing/2014/main" id="{717AF4C4-5B3B-03A4-6AA7-D11E202323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079292"/>
            <a:ext cx="5865862" cy="5097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19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57295-B593-5E3A-278B-5AE5F9320274}"/>
              </a:ext>
            </a:extLst>
          </p:cNvPr>
          <p:cNvSpPr>
            <a:spLocks noGrp="1"/>
          </p:cNvSpPr>
          <p:nvPr>
            <p:ph type="title"/>
          </p:nvPr>
        </p:nvSpPr>
        <p:spPr/>
        <p:txBody>
          <a:bodyPr/>
          <a:lstStyle/>
          <a:p>
            <a:r>
              <a:rPr lang="en-US" dirty="0"/>
              <a:t>GAN and VAE</a:t>
            </a:r>
          </a:p>
        </p:txBody>
      </p:sp>
      <p:pic>
        <p:nvPicPr>
          <p:cNvPr id="1026" name="Picture 2" descr="Electronics 10 01349 g001 550">
            <a:extLst>
              <a:ext uri="{FF2B5EF4-FFF2-40B4-BE49-F238E27FC236}">
                <a16:creationId xmlns:a16="http://schemas.microsoft.com/office/drawing/2014/main" id="{F06DA87B-CD12-2AE6-0C7A-14CE11DA5EF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1050" y="2262460"/>
            <a:ext cx="5554950" cy="23330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AN vs VAE: Differences, Similarities, Examples - Analytics Yogi">
            <a:extLst>
              <a:ext uri="{FF2B5EF4-FFF2-40B4-BE49-F238E27FC236}">
                <a16:creationId xmlns:a16="http://schemas.microsoft.com/office/drawing/2014/main" id="{8D305292-C0C1-D500-1B7F-074F8A360E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1743" y="1034349"/>
            <a:ext cx="5240276"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0725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55A8F-A0A9-CF2A-86F0-B99402F590DE}"/>
              </a:ext>
            </a:extLst>
          </p:cNvPr>
          <p:cNvSpPr>
            <a:spLocks noGrp="1"/>
          </p:cNvSpPr>
          <p:nvPr>
            <p:ph type="title"/>
          </p:nvPr>
        </p:nvSpPr>
        <p:spPr/>
        <p:txBody>
          <a:bodyPr/>
          <a:lstStyle/>
          <a:p>
            <a:r>
              <a:rPr lang="en-US" dirty="0"/>
              <a:t>What are LLMs	</a:t>
            </a:r>
          </a:p>
        </p:txBody>
      </p:sp>
      <p:sp>
        <p:nvSpPr>
          <p:cNvPr id="3" name="Content Placeholder 2">
            <a:extLst>
              <a:ext uri="{FF2B5EF4-FFF2-40B4-BE49-F238E27FC236}">
                <a16:creationId xmlns:a16="http://schemas.microsoft.com/office/drawing/2014/main" id="{BD455312-28E8-D68F-BFDD-07336E4F1617}"/>
              </a:ext>
            </a:extLst>
          </p:cNvPr>
          <p:cNvSpPr>
            <a:spLocks noGrp="1"/>
          </p:cNvSpPr>
          <p:nvPr>
            <p:ph idx="1"/>
          </p:nvPr>
        </p:nvSpPr>
        <p:spPr/>
        <p:txBody>
          <a:bodyPr/>
          <a:lstStyle/>
          <a:p>
            <a:r>
              <a:rPr lang="en-US" b="0" i="0" dirty="0">
                <a:solidFill>
                  <a:srgbClr val="222222"/>
                </a:solidFill>
                <a:effectLst/>
                <a:latin typeface="-apple-system"/>
              </a:rPr>
              <a:t>A large language model (LLM) is a type of </a:t>
            </a:r>
            <a:r>
              <a:rPr lang="en-US" dirty="0">
                <a:solidFill>
                  <a:srgbClr val="222222"/>
                </a:solidFill>
                <a:latin typeface="-apple-system"/>
              </a:rPr>
              <a:t>artificial intelligence (AI) program that can recognize and generate text, among other tasks. LLMs are trained on huge sets of data — hence the name "large.“</a:t>
            </a:r>
          </a:p>
          <a:p>
            <a:r>
              <a:rPr lang="en-US" dirty="0">
                <a:solidFill>
                  <a:srgbClr val="222222"/>
                </a:solidFill>
                <a:latin typeface="-apple-system"/>
              </a:rPr>
              <a:t>LLMs are built on machine learning: specifically, a type of neural network called a </a:t>
            </a:r>
            <a:r>
              <a:rPr lang="en-US" b="1" dirty="0">
                <a:solidFill>
                  <a:srgbClr val="222222"/>
                </a:solidFill>
                <a:latin typeface="-apple-system"/>
              </a:rPr>
              <a:t>transformer model</a:t>
            </a:r>
            <a:r>
              <a:rPr lang="en-US" dirty="0">
                <a:solidFill>
                  <a:srgbClr val="222222"/>
                </a:solidFill>
                <a:latin typeface="-apple-system"/>
              </a:rPr>
              <a:t>.</a:t>
            </a:r>
          </a:p>
          <a:p>
            <a:r>
              <a:rPr lang="en-US" dirty="0" err="1">
                <a:solidFill>
                  <a:srgbClr val="222222"/>
                </a:solidFill>
                <a:latin typeface="-apple-system"/>
              </a:rPr>
              <a:t>Eg</a:t>
            </a:r>
            <a:r>
              <a:rPr lang="en-US" dirty="0">
                <a:solidFill>
                  <a:srgbClr val="222222"/>
                </a:solidFill>
                <a:latin typeface="-apple-system"/>
              </a:rPr>
              <a:t>: </a:t>
            </a:r>
            <a:r>
              <a:rPr lang="en-US" dirty="0" err="1">
                <a:solidFill>
                  <a:srgbClr val="222222"/>
                </a:solidFill>
                <a:latin typeface="-apple-system"/>
              </a:rPr>
              <a:t>Chatgpt</a:t>
            </a:r>
            <a:r>
              <a:rPr lang="en-US" dirty="0">
                <a:solidFill>
                  <a:srgbClr val="222222"/>
                </a:solidFill>
                <a:latin typeface="-apple-system"/>
              </a:rPr>
              <a:t>, Llama2 , Mistral etc.</a:t>
            </a:r>
          </a:p>
        </p:txBody>
      </p:sp>
    </p:spTree>
    <p:extLst>
      <p:ext uri="{BB962C8B-B14F-4D97-AF65-F5344CB8AC3E}">
        <p14:creationId xmlns:p14="http://schemas.microsoft.com/office/powerpoint/2010/main" val="74938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6978C-99E0-FAF9-4D0A-765FDF1FD20B}"/>
              </a:ext>
            </a:extLst>
          </p:cNvPr>
          <p:cNvSpPr>
            <a:spLocks noGrp="1"/>
          </p:cNvSpPr>
          <p:nvPr>
            <p:ph type="title"/>
          </p:nvPr>
        </p:nvSpPr>
        <p:spPr/>
        <p:txBody>
          <a:bodyPr/>
          <a:lstStyle/>
          <a:p>
            <a:r>
              <a:rPr lang="en-US" dirty="0"/>
              <a:t>How are LLMs used	</a:t>
            </a:r>
          </a:p>
        </p:txBody>
      </p:sp>
      <p:sp>
        <p:nvSpPr>
          <p:cNvPr id="3" name="Content Placeholder 2">
            <a:extLst>
              <a:ext uri="{FF2B5EF4-FFF2-40B4-BE49-F238E27FC236}">
                <a16:creationId xmlns:a16="http://schemas.microsoft.com/office/drawing/2014/main" id="{61537222-CA90-7BB7-A9C5-143FC12002B1}"/>
              </a:ext>
            </a:extLst>
          </p:cNvPr>
          <p:cNvSpPr>
            <a:spLocks noGrp="1"/>
          </p:cNvSpPr>
          <p:nvPr>
            <p:ph idx="1"/>
          </p:nvPr>
        </p:nvSpPr>
        <p:spPr/>
        <p:txBody>
          <a:bodyPr/>
          <a:lstStyle/>
          <a:p>
            <a:r>
              <a:rPr lang="en-US" dirty="0"/>
              <a:t>Automate routine tasks</a:t>
            </a:r>
          </a:p>
          <a:p>
            <a:r>
              <a:rPr lang="en-US" dirty="0"/>
              <a:t>Improve decision making</a:t>
            </a:r>
          </a:p>
          <a:p>
            <a:r>
              <a:rPr lang="en-US" dirty="0"/>
              <a:t>Boost creativity and innovation</a:t>
            </a:r>
          </a:p>
          <a:p>
            <a:r>
              <a:rPr lang="en-US" dirty="0"/>
              <a:t>Language translation </a:t>
            </a:r>
          </a:p>
          <a:p>
            <a:r>
              <a:rPr lang="en-US" dirty="0"/>
              <a:t>Customer support</a:t>
            </a:r>
          </a:p>
          <a:p>
            <a:r>
              <a:rPr lang="en-US" dirty="0"/>
              <a:t>Content creation</a:t>
            </a:r>
          </a:p>
          <a:p>
            <a:r>
              <a:rPr lang="en-US" dirty="0"/>
              <a:t>Audio/Video analysis</a:t>
            </a:r>
          </a:p>
          <a:p>
            <a:endParaRPr lang="en-US" dirty="0"/>
          </a:p>
        </p:txBody>
      </p:sp>
    </p:spTree>
    <p:extLst>
      <p:ext uri="{BB962C8B-B14F-4D97-AF65-F5344CB8AC3E}">
        <p14:creationId xmlns:p14="http://schemas.microsoft.com/office/powerpoint/2010/main" val="1832301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93335-2716-EA52-EE52-DD16C080CFBC}"/>
              </a:ext>
            </a:extLst>
          </p:cNvPr>
          <p:cNvSpPr>
            <a:spLocks noGrp="1"/>
          </p:cNvSpPr>
          <p:nvPr>
            <p:ph type="title"/>
          </p:nvPr>
        </p:nvSpPr>
        <p:spPr/>
        <p:txBody>
          <a:bodyPr/>
          <a:lstStyle/>
          <a:p>
            <a:r>
              <a:rPr lang="en-US" dirty="0"/>
              <a:t>What is RAG</a:t>
            </a:r>
          </a:p>
        </p:txBody>
      </p:sp>
      <p:sp>
        <p:nvSpPr>
          <p:cNvPr id="4" name="Google Shape;337;g27476ab32b1_0_16">
            <a:extLst>
              <a:ext uri="{FF2B5EF4-FFF2-40B4-BE49-F238E27FC236}">
                <a16:creationId xmlns:a16="http://schemas.microsoft.com/office/drawing/2014/main" id="{2FB0C077-1326-99B2-1A32-CB62FAC9467B}"/>
              </a:ext>
            </a:extLst>
          </p:cNvPr>
          <p:cNvSpPr txBox="1">
            <a:spLocks noGrp="1"/>
          </p:cNvSpPr>
          <p:nvPr>
            <p:ph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14300">
              <a:spcBef>
                <a:spcPts val="0"/>
              </a:spcBef>
              <a:buFont typeface="Arial" panose="020B0604020202020204" pitchFamily="34" charset="0"/>
              <a:buNone/>
            </a:pPr>
            <a:endParaRPr lang="en-US" sz="1400" dirty="0">
              <a:solidFill>
                <a:schemeClr val="dk1"/>
              </a:solidFill>
              <a:highlight>
                <a:srgbClr val="FFFFFF"/>
              </a:highlight>
            </a:endParaRPr>
          </a:p>
          <a:p>
            <a:pPr marL="400050" indent="-285750" algn="just">
              <a:buClr>
                <a:schemeClr val="dk1"/>
              </a:buClr>
              <a:buSzPts val="1400"/>
              <a:buFont typeface="Wingdings" panose="05000000000000000000" pitchFamily="2" charset="2"/>
              <a:buChar char="q"/>
            </a:pPr>
            <a:r>
              <a:rPr lang="en-US" sz="1600" dirty="0">
                <a:solidFill>
                  <a:schemeClr val="tx1"/>
                </a:solidFill>
                <a:highlight>
                  <a:srgbClr val="FFFFFF"/>
                </a:highlight>
                <a:latin typeface="Arial" panose="020B0604020202020204" pitchFamily="34" charset="0"/>
                <a:cs typeface="Arial" panose="020B0604020202020204" pitchFamily="34" charset="0"/>
              </a:rPr>
              <a:t>RAG stands for Retrieval-Augmented Generation</a:t>
            </a:r>
            <a:endParaRPr lang="en-US" sz="1600" dirty="0">
              <a:solidFill>
                <a:schemeClr val="tx1"/>
              </a:solidFill>
              <a:latin typeface="Arial" panose="020B0604020202020204" pitchFamily="34" charset="0"/>
              <a:cs typeface="Arial" panose="020B0604020202020204" pitchFamily="34" charset="0"/>
            </a:endParaRPr>
          </a:p>
          <a:p>
            <a:pPr marL="400050" indent="-285750" algn="just">
              <a:buClr>
                <a:schemeClr val="dk1"/>
              </a:buClr>
              <a:buSzPts val="1400"/>
              <a:buFont typeface="Wingdings" panose="05000000000000000000" pitchFamily="2" charset="2"/>
              <a:buChar char="q"/>
            </a:pPr>
            <a:r>
              <a:rPr lang="en-US" sz="1600" dirty="0">
                <a:solidFill>
                  <a:schemeClr val="tx1"/>
                </a:solidFill>
                <a:highlight>
                  <a:srgbClr val="FFFFFF"/>
                </a:highlight>
                <a:latin typeface="Arial" panose="020B0604020202020204" pitchFamily="34" charset="0"/>
                <a:cs typeface="Arial" panose="020B0604020202020204" pitchFamily="34" charset="0"/>
              </a:rPr>
              <a:t>RAG combines retrieval and generation processes to enhance the capabilities of LLMs</a:t>
            </a:r>
            <a:endParaRPr lang="en-US" sz="1600" dirty="0">
              <a:solidFill>
                <a:schemeClr val="tx1"/>
              </a:solidFill>
              <a:latin typeface="Arial" panose="020B0604020202020204" pitchFamily="34" charset="0"/>
              <a:cs typeface="Arial" panose="020B0604020202020204" pitchFamily="34" charset="0"/>
            </a:endParaRPr>
          </a:p>
          <a:p>
            <a:pPr marL="400050" indent="-285750" algn="just">
              <a:buClr>
                <a:schemeClr val="dk1"/>
              </a:buClr>
              <a:buSzPts val="1400"/>
              <a:buFont typeface="Wingdings" panose="05000000000000000000" pitchFamily="2" charset="2"/>
              <a:buChar char="q"/>
            </a:pPr>
            <a:r>
              <a:rPr lang="en-US" sz="1600" dirty="0">
                <a:solidFill>
                  <a:schemeClr val="tx1"/>
                </a:solidFill>
                <a:highlight>
                  <a:srgbClr val="FFFFFF"/>
                </a:highlight>
                <a:latin typeface="Arial" panose="020B0604020202020204" pitchFamily="34" charset="0"/>
                <a:cs typeface="Arial" panose="020B0604020202020204" pitchFamily="34" charset="0"/>
              </a:rPr>
              <a:t>In RAG, the model retrieves relevant information from a knowledge base or external sources</a:t>
            </a:r>
            <a:endParaRPr lang="en-US" sz="1600" dirty="0">
              <a:solidFill>
                <a:schemeClr val="tx1"/>
              </a:solidFill>
              <a:latin typeface="Arial" panose="020B0604020202020204" pitchFamily="34" charset="0"/>
              <a:cs typeface="Arial" panose="020B0604020202020204" pitchFamily="34" charset="0"/>
            </a:endParaRPr>
          </a:p>
          <a:p>
            <a:pPr marL="400050" indent="-285750" algn="just">
              <a:buClr>
                <a:schemeClr val="dk1"/>
              </a:buClr>
              <a:buSzPts val="1400"/>
              <a:buFont typeface="Wingdings" panose="05000000000000000000" pitchFamily="2" charset="2"/>
              <a:buChar char="q"/>
            </a:pPr>
            <a:r>
              <a:rPr lang="en-US" sz="1600" dirty="0">
                <a:solidFill>
                  <a:schemeClr val="tx1"/>
                </a:solidFill>
                <a:highlight>
                  <a:srgbClr val="FFFFFF"/>
                </a:highlight>
                <a:latin typeface="Arial" panose="020B0604020202020204" pitchFamily="34" charset="0"/>
                <a:cs typeface="Arial" panose="020B0604020202020204" pitchFamily="34" charset="0"/>
              </a:rPr>
              <a:t>This retrieved information is then augmented with user query used in conjunction with the model's internal knowledge to generate coherent and contextually relevant responses</a:t>
            </a:r>
            <a:endParaRPr lang="en-US" sz="1600" dirty="0">
              <a:solidFill>
                <a:schemeClr val="tx1"/>
              </a:solidFill>
              <a:latin typeface="Arial" panose="020B0604020202020204" pitchFamily="34" charset="0"/>
              <a:cs typeface="Arial" panose="020B0604020202020204" pitchFamily="34" charset="0"/>
            </a:endParaRPr>
          </a:p>
          <a:p>
            <a:pPr marL="139700" indent="0" algn="just">
              <a:lnSpc>
                <a:spcPct val="115000"/>
              </a:lnSpc>
              <a:spcBef>
                <a:spcPts val="0"/>
              </a:spcBef>
              <a:buClr>
                <a:schemeClr val="dk1"/>
              </a:buClr>
              <a:buSzPts val="1400"/>
              <a:buNone/>
            </a:pPr>
            <a:endParaRPr lang="en-US" sz="1400" dirty="0">
              <a:solidFill>
                <a:srgbClr val="222222"/>
              </a:solidFill>
              <a:highlight>
                <a:srgbClr val="FFFFFF"/>
              </a:highlight>
            </a:endParaRPr>
          </a:p>
          <a:p>
            <a:pPr marL="425450" indent="-285750" algn="just">
              <a:lnSpc>
                <a:spcPct val="114999"/>
              </a:lnSpc>
              <a:spcBef>
                <a:spcPts val="0"/>
              </a:spcBef>
              <a:buClr>
                <a:schemeClr val="dk1"/>
              </a:buClr>
              <a:buSzPts val="1400"/>
              <a:buFont typeface="Arial"/>
              <a:buChar char="•"/>
            </a:pPr>
            <a:endParaRPr lang="en-US" sz="1400" dirty="0">
              <a:solidFill>
                <a:srgbClr val="222222"/>
              </a:solidFill>
              <a:highlight>
                <a:srgbClr val="FFFFFF"/>
              </a:highlight>
            </a:endParaRPr>
          </a:p>
          <a:p>
            <a:pPr marL="139700" indent="0" algn="just">
              <a:lnSpc>
                <a:spcPct val="114999"/>
              </a:lnSpc>
              <a:spcBef>
                <a:spcPts val="0"/>
              </a:spcBef>
              <a:buClr>
                <a:schemeClr val="dk1"/>
              </a:buClr>
              <a:buSzPts val="1400"/>
              <a:buNone/>
            </a:pPr>
            <a:endParaRPr lang="en-US" sz="1400" dirty="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400" dirty="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200" dirty="0">
              <a:solidFill>
                <a:srgbClr val="222222"/>
              </a:solidFill>
              <a:highlight>
                <a:srgbClr val="FFFFFF"/>
              </a:highlight>
            </a:endParaRPr>
          </a:p>
          <a:p>
            <a:pPr indent="-317500" algn="just">
              <a:lnSpc>
                <a:spcPct val="115000"/>
              </a:lnSpc>
              <a:spcBef>
                <a:spcPts val="0"/>
              </a:spcBef>
              <a:buClr>
                <a:srgbClr val="28292B"/>
              </a:buClr>
              <a:buSzPts val="1400"/>
              <a:buFont typeface="Arial"/>
              <a:buChar char="•"/>
            </a:pPr>
            <a:endParaRPr lang="en-US" sz="1400" dirty="0">
              <a:solidFill>
                <a:srgbClr val="28292B"/>
              </a:solidFill>
              <a:highlight>
                <a:srgbClr val="FFFFFF"/>
              </a:highlight>
            </a:endParaRPr>
          </a:p>
          <a:p>
            <a:pPr indent="-114300">
              <a:spcBef>
                <a:spcPts val="0"/>
              </a:spcBef>
              <a:buFont typeface="Arial" panose="020B0604020202020204" pitchFamily="34" charset="0"/>
              <a:buNone/>
            </a:pPr>
            <a:endParaRPr lang="en-US" dirty="0"/>
          </a:p>
        </p:txBody>
      </p:sp>
    </p:spTree>
    <p:extLst>
      <p:ext uri="{BB962C8B-B14F-4D97-AF65-F5344CB8AC3E}">
        <p14:creationId xmlns:p14="http://schemas.microsoft.com/office/powerpoint/2010/main" val="1833173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Rectangle: Rounded Corners 164">
            <a:extLst>
              <a:ext uri="{FF2B5EF4-FFF2-40B4-BE49-F238E27FC236}">
                <a16:creationId xmlns:a16="http://schemas.microsoft.com/office/drawing/2014/main" id="{BB97B16E-5597-BE76-2508-C5B34D35B4D2}"/>
              </a:ext>
            </a:extLst>
          </p:cNvPr>
          <p:cNvSpPr/>
          <p:nvPr/>
        </p:nvSpPr>
        <p:spPr>
          <a:xfrm>
            <a:off x="3567523" y="1003243"/>
            <a:ext cx="8553680" cy="3087141"/>
          </a:xfrm>
          <a:prstGeom prst="roundRect">
            <a:avLst>
              <a:gd name="adj" fmla="val 5277"/>
            </a:avLst>
          </a:prstGeom>
          <a:noFill/>
          <a:ln>
            <a:solidFill>
              <a:schemeClr val="accent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89" name="Rectangle: Rounded Corners 88">
            <a:extLst>
              <a:ext uri="{FF2B5EF4-FFF2-40B4-BE49-F238E27FC236}">
                <a16:creationId xmlns:a16="http://schemas.microsoft.com/office/drawing/2014/main" id="{99F78C4D-0B98-3871-9B5E-3D65E5AFD80B}"/>
              </a:ext>
            </a:extLst>
          </p:cNvPr>
          <p:cNvSpPr/>
          <p:nvPr/>
        </p:nvSpPr>
        <p:spPr>
          <a:xfrm>
            <a:off x="130630" y="4203951"/>
            <a:ext cx="6341159" cy="2562940"/>
          </a:xfrm>
          <a:prstGeom prst="roundRect">
            <a:avLst>
              <a:gd name="adj" fmla="val 11570"/>
            </a:avLst>
          </a:prstGeom>
          <a:solidFill>
            <a:schemeClr val="tx2">
              <a:lumMod val="10000"/>
              <a:lumOff val="9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4" name="Rectangle: Rounded Corners 113">
            <a:extLst>
              <a:ext uri="{FF2B5EF4-FFF2-40B4-BE49-F238E27FC236}">
                <a16:creationId xmlns:a16="http://schemas.microsoft.com/office/drawing/2014/main" id="{BA2ACCF8-EDE2-0B82-BEA9-9E4100FE798D}"/>
              </a:ext>
            </a:extLst>
          </p:cNvPr>
          <p:cNvSpPr/>
          <p:nvPr/>
        </p:nvSpPr>
        <p:spPr>
          <a:xfrm>
            <a:off x="7113275" y="5508124"/>
            <a:ext cx="5007928" cy="1360365"/>
          </a:xfrm>
          <a:prstGeom prst="roundRect">
            <a:avLst/>
          </a:prstGeom>
          <a:solidFill>
            <a:schemeClr val="tx2">
              <a:lumMod val="75000"/>
              <a:lumOff val="25000"/>
            </a:schemeClr>
          </a:solid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latin typeface="Aptos" panose="02110004020202020204"/>
            </a:endParaRPr>
          </a:p>
        </p:txBody>
      </p:sp>
      <p:sp>
        <p:nvSpPr>
          <p:cNvPr id="113" name="Rectangle: Rounded Corners 112">
            <a:extLst>
              <a:ext uri="{FF2B5EF4-FFF2-40B4-BE49-F238E27FC236}">
                <a16:creationId xmlns:a16="http://schemas.microsoft.com/office/drawing/2014/main" id="{0E62FD91-222D-58A0-B3BB-9B0E0278BABA}"/>
              </a:ext>
            </a:extLst>
          </p:cNvPr>
          <p:cNvSpPr/>
          <p:nvPr/>
        </p:nvSpPr>
        <p:spPr>
          <a:xfrm>
            <a:off x="69399" y="919425"/>
            <a:ext cx="2850439" cy="1318105"/>
          </a:xfrm>
          <a:prstGeom prst="roundRect">
            <a:avLst/>
          </a:prstGeom>
          <a:solidFill>
            <a:schemeClr val="tx2">
              <a:lumMod val="75000"/>
              <a:lumOff val="25000"/>
            </a:schemeClr>
          </a:solid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IN">
              <a:solidFill>
                <a:prstClr val="white"/>
              </a:solidFill>
              <a:latin typeface="Aptos" panose="02110004020202020204"/>
            </a:endParaRPr>
          </a:p>
        </p:txBody>
      </p:sp>
      <p:grpSp>
        <p:nvGrpSpPr>
          <p:cNvPr id="82" name="Group 81">
            <a:extLst>
              <a:ext uri="{FF2B5EF4-FFF2-40B4-BE49-F238E27FC236}">
                <a16:creationId xmlns:a16="http://schemas.microsoft.com/office/drawing/2014/main" id="{8BCBF024-9BE9-2DA8-F4AE-C3BEDBF42DB3}"/>
              </a:ext>
            </a:extLst>
          </p:cNvPr>
          <p:cNvGrpSpPr/>
          <p:nvPr/>
        </p:nvGrpSpPr>
        <p:grpSpPr>
          <a:xfrm>
            <a:off x="362121" y="4645570"/>
            <a:ext cx="1331540" cy="1654092"/>
            <a:chOff x="292941" y="4382452"/>
            <a:chExt cx="1331540" cy="1654092"/>
          </a:xfrm>
        </p:grpSpPr>
        <p:sp>
          <p:nvSpPr>
            <p:cNvPr id="3" name="Rectangle 2">
              <a:extLst>
                <a:ext uri="{FF2B5EF4-FFF2-40B4-BE49-F238E27FC236}">
                  <a16:creationId xmlns:a16="http://schemas.microsoft.com/office/drawing/2014/main" id="{7305BA10-539C-DE17-4837-1E9AADE0F76E}"/>
                </a:ext>
              </a:extLst>
            </p:cNvPr>
            <p:cNvSpPr/>
            <p:nvPr/>
          </p:nvSpPr>
          <p:spPr>
            <a:xfrm>
              <a:off x="308243" y="4923170"/>
              <a:ext cx="1300937" cy="111337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Aptos" panose="02110004020202020204"/>
              </a:endParaRPr>
            </a:p>
          </p:txBody>
        </p:sp>
        <p:sp>
          <p:nvSpPr>
            <p:cNvPr id="4" name="TextBox 3">
              <a:extLst>
                <a:ext uri="{FF2B5EF4-FFF2-40B4-BE49-F238E27FC236}">
                  <a16:creationId xmlns:a16="http://schemas.microsoft.com/office/drawing/2014/main" id="{DF5316A3-BC46-039E-60A2-AA456A8E944C}"/>
                </a:ext>
              </a:extLst>
            </p:cNvPr>
            <p:cNvSpPr txBox="1"/>
            <p:nvPr/>
          </p:nvSpPr>
          <p:spPr>
            <a:xfrm>
              <a:off x="292941" y="4382452"/>
              <a:ext cx="1331540" cy="584775"/>
            </a:xfrm>
            <a:prstGeom prst="rect">
              <a:avLst/>
            </a:prstGeom>
            <a:solidFill>
              <a:schemeClr val="accent1">
                <a:lumMod val="75000"/>
              </a:schemeClr>
            </a:solidFill>
          </p:spPr>
          <p:txBody>
            <a:bodyPr wrap="square" rtlCol="0">
              <a:spAutoFit/>
            </a:bodyPr>
            <a:lstStyle/>
            <a:p>
              <a:pPr algn="ctr">
                <a:defRPr/>
              </a:pPr>
              <a:r>
                <a:rPr lang="en-US" sz="1600">
                  <a:solidFill>
                    <a:prstClr val="white"/>
                  </a:solidFill>
                  <a:latin typeface="Aptos" panose="02110004020202020204"/>
                </a:rPr>
                <a:t>Raw Data Sources</a:t>
              </a:r>
            </a:p>
          </p:txBody>
        </p:sp>
        <p:pic>
          <p:nvPicPr>
            <p:cNvPr id="5" name="Picture 4" descr="document, file, page, paper, txt ">
              <a:extLst>
                <a:ext uri="{FF2B5EF4-FFF2-40B4-BE49-F238E27FC236}">
                  <a16:creationId xmlns:a16="http://schemas.microsoft.com/office/drawing/2014/main" id="{5B2D2F69-FF0B-8DC0-DAA4-F719DC0FF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896" y="5015246"/>
              <a:ext cx="509519" cy="4048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document, doc, file ">
              <a:extLst>
                <a:ext uri="{FF2B5EF4-FFF2-40B4-BE49-F238E27FC236}">
                  <a16:creationId xmlns:a16="http://schemas.microsoft.com/office/drawing/2014/main" id="{2A60CFA9-86F8-FA99-0370-A8A2987E85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6893" y="4999704"/>
              <a:ext cx="540388" cy="42933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0">
              <a:extLst>
                <a:ext uri="{FF2B5EF4-FFF2-40B4-BE49-F238E27FC236}">
                  <a16:creationId xmlns:a16="http://schemas.microsoft.com/office/drawing/2014/main" id="{C47A752B-785A-0DE1-A8C5-F7423CE296E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05823" y="5470394"/>
              <a:ext cx="369101" cy="457020"/>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extBox 9">
            <a:extLst>
              <a:ext uri="{FF2B5EF4-FFF2-40B4-BE49-F238E27FC236}">
                <a16:creationId xmlns:a16="http://schemas.microsoft.com/office/drawing/2014/main" id="{7E1D6A9E-81BC-AAA8-43C1-95BA1BD65FEE}"/>
              </a:ext>
            </a:extLst>
          </p:cNvPr>
          <p:cNvSpPr txBox="1"/>
          <p:nvPr/>
        </p:nvSpPr>
        <p:spPr>
          <a:xfrm>
            <a:off x="929539" y="1148204"/>
            <a:ext cx="1649435" cy="338554"/>
          </a:xfrm>
          <a:prstGeom prst="rect">
            <a:avLst/>
          </a:prstGeom>
          <a:noFill/>
        </p:spPr>
        <p:txBody>
          <a:bodyPr wrap="square" rtlCol="0" anchor="ctr">
            <a:spAutoFit/>
          </a:bodyPr>
          <a:lstStyle/>
          <a:p>
            <a:pPr algn="ctr">
              <a:defRPr/>
            </a:pPr>
            <a:r>
              <a:rPr lang="en-US" sz="1600" b="1">
                <a:solidFill>
                  <a:prstClr val="white"/>
                </a:solidFill>
                <a:latin typeface="Aptos" panose="02110004020202020204"/>
              </a:rPr>
              <a:t>User Query</a:t>
            </a:r>
          </a:p>
        </p:txBody>
      </p:sp>
      <p:sp>
        <p:nvSpPr>
          <p:cNvPr id="11" name="Rectangle: Rounded Corners 10">
            <a:extLst>
              <a:ext uri="{FF2B5EF4-FFF2-40B4-BE49-F238E27FC236}">
                <a16:creationId xmlns:a16="http://schemas.microsoft.com/office/drawing/2014/main" id="{0B84878E-0707-CF06-B566-1AB540F1FCDB}"/>
              </a:ext>
            </a:extLst>
          </p:cNvPr>
          <p:cNvSpPr/>
          <p:nvPr/>
        </p:nvSpPr>
        <p:spPr>
          <a:xfrm>
            <a:off x="170610" y="1533760"/>
            <a:ext cx="2623279" cy="56962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600" i="1">
                <a:solidFill>
                  <a:prstClr val="black"/>
                </a:solidFill>
                <a:latin typeface="Aptos" panose="02110004020202020204"/>
              </a:rPr>
              <a:t>What are some on the MAC control elements</a:t>
            </a:r>
            <a:endParaRPr lang="en-IN" sz="1600" i="1">
              <a:solidFill>
                <a:prstClr val="white">
                  <a:lumMod val="75000"/>
                </a:prstClr>
              </a:solidFill>
              <a:latin typeface="Aptos" panose="02110004020202020204"/>
            </a:endParaRPr>
          </a:p>
        </p:txBody>
      </p:sp>
      <p:sp>
        <p:nvSpPr>
          <p:cNvPr id="12" name="Rectangle: Rounded Corners 11">
            <a:extLst>
              <a:ext uri="{FF2B5EF4-FFF2-40B4-BE49-F238E27FC236}">
                <a16:creationId xmlns:a16="http://schemas.microsoft.com/office/drawing/2014/main" id="{061106B7-B29A-4046-4126-5DD5A8E46275}"/>
              </a:ext>
            </a:extLst>
          </p:cNvPr>
          <p:cNvSpPr/>
          <p:nvPr/>
        </p:nvSpPr>
        <p:spPr>
          <a:xfrm>
            <a:off x="8234869" y="5590256"/>
            <a:ext cx="3826503" cy="119610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i="1">
                <a:solidFill>
                  <a:prstClr val="black"/>
                </a:solidFill>
                <a:latin typeface="Aptos" panose="02110004020202020204"/>
              </a:rPr>
              <a:t>Thanks for Asking. Some of the MAC control elements:</a:t>
            </a:r>
          </a:p>
          <a:p>
            <a:r>
              <a:rPr lang="en-US" sz="1100" b="1" i="1">
                <a:solidFill>
                  <a:prstClr val="black"/>
                </a:solidFill>
                <a:latin typeface="Aptos" panose="02110004020202020204"/>
              </a:rPr>
              <a:t>    1) CRNTI </a:t>
            </a:r>
          </a:p>
          <a:p>
            <a:r>
              <a:rPr lang="en-US" sz="1100" b="1" i="1">
                <a:solidFill>
                  <a:prstClr val="black"/>
                </a:solidFill>
                <a:latin typeface="Aptos" panose="02110004020202020204"/>
              </a:rPr>
              <a:t>    2) BSR (Buffer Status Report)</a:t>
            </a:r>
          </a:p>
          <a:p>
            <a:r>
              <a:rPr lang="en-US" sz="1100" b="1" i="1">
                <a:solidFill>
                  <a:prstClr val="black"/>
                </a:solidFill>
                <a:latin typeface="Aptos" panose="02110004020202020204"/>
              </a:rPr>
              <a:t>    3) PHR (Power Headroom Report)</a:t>
            </a:r>
          </a:p>
          <a:p>
            <a:r>
              <a:rPr lang="en-US" sz="1100" b="1" i="1">
                <a:solidFill>
                  <a:prstClr val="black"/>
                </a:solidFill>
                <a:latin typeface="Aptos" panose="02110004020202020204"/>
              </a:rPr>
              <a:t>Source:</a:t>
            </a:r>
            <a:r>
              <a:rPr lang="en-US" sz="1100" b="1" i="1">
                <a:solidFill>
                  <a:srgbClr val="0070C0"/>
                </a:solidFill>
                <a:latin typeface="Aptos" panose="02110004020202020204"/>
              </a:rPr>
              <a:t>/</a:t>
            </a:r>
            <a:r>
              <a:rPr lang="en-US" sz="1100" b="1" i="1" err="1">
                <a:solidFill>
                  <a:srgbClr val="0070C0"/>
                </a:solidFill>
                <a:latin typeface="Aptos" panose="02110004020202020204"/>
              </a:rPr>
              <a:t>Docdatabase</a:t>
            </a:r>
            <a:r>
              <a:rPr lang="en-US" sz="1100" b="1" i="1">
                <a:solidFill>
                  <a:srgbClr val="0070C0"/>
                </a:solidFill>
                <a:latin typeface="Aptos" panose="02110004020202020204"/>
              </a:rPr>
              <a:t>/</a:t>
            </a:r>
            <a:r>
              <a:rPr lang="en-US" sz="1100" b="1" i="1" err="1">
                <a:solidFill>
                  <a:srgbClr val="0070C0"/>
                </a:solidFill>
                <a:latin typeface="Aptos" panose="02110004020202020204"/>
              </a:rPr>
              <a:t>OrgUnit</a:t>
            </a:r>
            <a:r>
              <a:rPr lang="en-US" sz="1100" b="1" i="1">
                <a:solidFill>
                  <a:srgbClr val="0070C0"/>
                </a:solidFill>
                <a:latin typeface="Aptos" panose="02110004020202020204"/>
              </a:rPr>
              <a:t>/TSS 3.0/1</a:t>
            </a:r>
          </a:p>
        </p:txBody>
      </p:sp>
      <p:sp>
        <p:nvSpPr>
          <p:cNvPr id="13" name="Rectangle 12">
            <a:extLst>
              <a:ext uri="{FF2B5EF4-FFF2-40B4-BE49-F238E27FC236}">
                <a16:creationId xmlns:a16="http://schemas.microsoft.com/office/drawing/2014/main" id="{74F6891D-5617-EB87-F95E-1EF64450A51D}"/>
              </a:ext>
            </a:extLst>
          </p:cNvPr>
          <p:cNvSpPr/>
          <p:nvPr/>
        </p:nvSpPr>
        <p:spPr>
          <a:xfrm>
            <a:off x="2264353" y="4860521"/>
            <a:ext cx="1543987" cy="1215003"/>
          </a:xfrm>
          <a:prstGeom prst="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Aptos" panose="02110004020202020204"/>
            </a:endParaRPr>
          </a:p>
        </p:txBody>
      </p:sp>
      <p:sp>
        <p:nvSpPr>
          <p:cNvPr id="17" name="TextBox 16">
            <a:extLst>
              <a:ext uri="{FF2B5EF4-FFF2-40B4-BE49-F238E27FC236}">
                <a16:creationId xmlns:a16="http://schemas.microsoft.com/office/drawing/2014/main" id="{72F8A67D-8019-A3BC-FFD9-F8118B0B3A6B}"/>
              </a:ext>
            </a:extLst>
          </p:cNvPr>
          <p:cNvSpPr txBox="1"/>
          <p:nvPr/>
        </p:nvSpPr>
        <p:spPr>
          <a:xfrm>
            <a:off x="2368842" y="5248528"/>
            <a:ext cx="620683" cy="276999"/>
          </a:xfrm>
          <a:prstGeom prst="rect">
            <a:avLst/>
          </a:prstGeom>
          <a:solidFill>
            <a:schemeClr val="tx2">
              <a:lumMod val="50000"/>
              <a:lumOff val="50000"/>
            </a:schemeClr>
          </a:solidFill>
          <a:ln>
            <a:solidFill>
              <a:schemeClr val="accent1">
                <a:lumMod val="50000"/>
              </a:schemeClr>
            </a:solidFill>
          </a:ln>
        </p:spPr>
        <p:txBody>
          <a:bodyPr wrap="none" rtlCol="0" anchor="ctr">
            <a:spAutoFit/>
          </a:bodyPr>
          <a:lstStyle/>
          <a:p>
            <a:pPr>
              <a:defRPr/>
            </a:pPr>
            <a:r>
              <a:rPr lang="en-US" sz="1200" b="1">
                <a:solidFill>
                  <a:prstClr val="black"/>
                </a:solidFill>
                <a:latin typeface="Aptos" panose="02110004020202020204"/>
              </a:rPr>
              <a:t>chunk</a:t>
            </a:r>
          </a:p>
        </p:txBody>
      </p:sp>
      <p:sp>
        <p:nvSpPr>
          <p:cNvPr id="27" name="Rectangle 26">
            <a:extLst>
              <a:ext uri="{FF2B5EF4-FFF2-40B4-BE49-F238E27FC236}">
                <a16:creationId xmlns:a16="http://schemas.microsoft.com/office/drawing/2014/main" id="{E4DF9B74-CC8F-568E-23FA-BEB17E9F4FBB}"/>
              </a:ext>
            </a:extLst>
          </p:cNvPr>
          <p:cNvSpPr/>
          <p:nvPr/>
        </p:nvSpPr>
        <p:spPr>
          <a:xfrm>
            <a:off x="3718645" y="2935718"/>
            <a:ext cx="1543987" cy="974591"/>
          </a:xfrm>
          <a:prstGeom prst="rect">
            <a:avLst/>
          </a:prstGeom>
          <a:solidFill>
            <a:schemeClr val="accent6">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600">
                <a:solidFill>
                  <a:schemeClr val="tx1"/>
                </a:solidFill>
                <a:latin typeface="Aptos" panose="02110004020202020204"/>
              </a:rPr>
              <a:t>Embedding Model</a:t>
            </a:r>
          </a:p>
        </p:txBody>
      </p:sp>
      <p:sp>
        <p:nvSpPr>
          <p:cNvPr id="30" name="TextBox 29">
            <a:extLst>
              <a:ext uri="{FF2B5EF4-FFF2-40B4-BE49-F238E27FC236}">
                <a16:creationId xmlns:a16="http://schemas.microsoft.com/office/drawing/2014/main" id="{8BCC62D6-5EB1-6AD7-4BBA-61120A095809}"/>
              </a:ext>
            </a:extLst>
          </p:cNvPr>
          <p:cNvSpPr txBox="1"/>
          <p:nvPr/>
        </p:nvSpPr>
        <p:spPr>
          <a:xfrm>
            <a:off x="2265110" y="4880190"/>
            <a:ext cx="1522533" cy="338554"/>
          </a:xfrm>
          <a:prstGeom prst="rect">
            <a:avLst/>
          </a:prstGeom>
          <a:noFill/>
        </p:spPr>
        <p:txBody>
          <a:bodyPr wrap="none" rtlCol="0">
            <a:spAutoFit/>
          </a:bodyPr>
          <a:lstStyle/>
          <a:p>
            <a:pPr>
              <a:defRPr/>
            </a:pPr>
            <a:r>
              <a:rPr lang="en-US" sz="1600">
                <a:solidFill>
                  <a:prstClr val="black"/>
                </a:solidFill>
                <a:latin typeface="Aptos" panose="02110004020202020204"/>
              </a:rPr>
              <a:t>Chunks of data</a:t>
            </a:r>
          </a:p>
        </p:txBody>
      </p:sp>
      <p:sp>
        <p:nvSpPr>
          <p:cNvPr id="31" name="Rectangle 30">
            <a:extLst>
              <a:ext uri="{FF2B5EF4-FFF2-40B4-BE49-F238E27FC236}">
                <a16:creationId xmlns:a16="http://schemas.microsoft.com/office/drawing/2014/main" id="{029DA8BE-DFC8-E561-16E7-095CFEBE15C0}"/>
              </a:ext>
            </a:extLst>
          </p:cNvPr>
          <p:cNvSpPr/>
          <p:nvPr/>
        </p:nvSpPr>
        <p:spPr>
          <a:xfrm>
            <a:off x="4756878" y="4749121"/>
            <a:ext cx="1501513" cy="1924105"/>
          </a:xfrm>
          <a:prstGeom prst="rect">
            <a:avLst/>
          </a:prstGeom>
          <a:solidFill>
            <a:schemeClr val="accent4">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Aptos" panose="02110004020202020204"/>
            </a:endParaRPr>
          </a:p>
        </p:txBody>
      </p:sp>
      <p:sp>
        <p:nvSpPr>
          <p:cNvPr id="32" name="Rectangle 31">
            <a:extLst>
              <a:ext uri="{FF2B5EF4-FFF2-40B4-BE49-F238E27FC236}">
                <a16:creationId xmlns:a16="http://schemas.microsoft.com/office/drawing/2014/main" id="{16EF9F73-FF80-50F4-6985-150EA1D574C6}"/>
              </a:ext>
            </a:extLst>
          </p:cNvPr>
          <p:cNvSpPr/>
          <p:nvPr/>
        </p:nvSpPr>
        <p:spPr>
          <a:xfrm>
            <a:off x="5418226" y="1223918"/>
            <a:ext cx="1501513" cy="1628935"/>
          </a:xfrm>
          <a:prstGeom prst="rect">
            <a:avLst/>
          </a:prstGeom>
          <a:solidFill>
            <a:schemeClr val="accent5">
              <a:lumMod val="40000"/>
              <a:lumOff val="6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latin typeface="Aptos" panose="02110004020202020204"/>
            </a:endParaRPr>
          </a:p>
        </p:txBody>
      </p:sp>
      <p:sp>
        <p:nvSpPr>
          <p:cNvPr id="33" name="TextBox 32">
            <a:extLst>
              <a:ext uri="{FF2B5EF4-FFF2-40B4-BE49-F238E27FC236}">
                <a16:creationId xmlns:a16="http://schemas.microsoft.com/office/drawing/2014/main" id="{EA73384F-6004-3B9A-D67E-CC92E9E39AB1}"/>
              </a:ext>
            </a:extLst>
          </p:cNvPr>
          <p:cNvSpPr txBox="1"/>
          <p:nvPr/>
        </p:nvSpPr>
        <p:spPr>
          <a:xfrm>
            <a:off x="5376040" y="1234722"/>
            <a:ext cx="1542913" cy="584775"/>
          </a:xfrm>
          <a:prstGeom prst="rect">
            <a:avLst/>
          </a:prstGeom>
          <a:noFill/>
        </p:spPr>
        <p:txBody>
          <a:bodyPr wrap="square" rtlCol="0" anchor="ctr">
            <a:spAutoFit/>
          </a:bodyPr>
          <a:lstStyle/>
          <a:p>
            <a:pPr algn="ctr">
              <a:defRPr/>
            </a:pPr>
            <a:r>
              <a:rPr lang="en-US" sz="1600" b="1">
                <a:solidFill>
                  <a:prstClr val="black"/>
                </a:solidFill>
                <a:latin typeface="Aptos" panose="02110004020202020204"/>
              </a:rPr>
              <a:t>Query</a:t>
            </a:r>
            <a:r>
              <a:rPr lang="en-US" sz="1600">
                <a:solidFill>
                  <a:prstClr val="black"/>
                </a:solidFill>
                <a:latin typeface="Aptos" panose="02110004020202020204"/>
              </a:rPr>
              <a:t> Vector Embeddings    </a:t>
            </a:r>
          </a:p>
        </p:txBody>
      </p:sp>
      <p:sp>
        <p:nvSpPr>
          <p:cNvPr id="34" name="TextBox 33">
            <a:extLst>
              <a:ext uri="{FF2B5EF4-FFF2-40B4-BE49-F238E27FC236}">
                <a16:creationId xmlns:a16="http://schemas.microsoft.com/office/drawing/2014/main" id="{B3BFFB65-F023-2A36-A473-D8C9E889E16F}"/>
              </a:ext>
            </a:extLst>
          </p:cNvPr>
          <p:cNvSpPr txBox="1"/>
          <p:nvPr/>
        </p:nvSpPr>
        <p:spPr>
          <a:xfrm>
            <a:off x="4754676" y="4791474"/>
            <a:ext cx="1458131" cy="584775"/>
          </a:xfrm>
          <a:prstGeom prst="rect">
            <a:avLst/>
          </a:prstGeom>
          <a:noFill/>
        </p:spPr>
        <p:txBody>
          <a:bodyPr wrap="square" rtlCol="0" anchor="ctr">
            <a:spAutoFit/>
          </a:bodyPr>
          <a:lstStyle/>
          <a:p>
            <a:pPr algn="ctr">
              <a:defRPr/>
            </a:pPr>
            <a:r>
              <a:rPr lang="en-US" sz="1600" b="1">
                <a:solidFill>
                  <a:prstClr val="black"/>
                </a:solidFill>
                <a:latin typeface="Aptos" panose="02110004020202020204"/>
              </a:rPr>
              <a:t>Data</a:t>
            </a:r>
            <a:r>
              <a:rPr lang="en-US" sz="1600">
                <a:solidFill>
                  <a:prstClr val="black"/>
                </a:solidFill>
                <a:latin typeface="Aptos" panose="02110004020202020204"/>
              </a:rPr>
              <a:t> Vector Embeddings</a:t>
            </a:r>
          </a:p>
        </p:txBody>
      </p:sp>
      <p:graphicFrame>
        <p:nvGraphicFramePr>
          <p:cNvPr id="35" name="Table 34">
            <a:extLst>
              <a:ext uri="{FF2B5EF4-FFF2-40B4-BE49-F238E27FC236}">
                <a16:creationId xmlns:a16="http://schemas.microsoft.com/office/drawing/2014/main" id="{3AD0FC84-0EC1-0407-A47B-2ADD1B37F6C1}"/>
              </a:ext>
            </a:extLst>
          </p:cNvPr>
          <p:cNvGraphicFramePr>
            <a:graphicFrameLocks noGrp="1"/>
          </p:cNvGraphicFramePr>
          <p:nvPr/>
        </p:nvGraphicFramePr>
        <p:xfrm>
          <a:off x="5623629" y="1816326"/>
          <a:ext cx="481331" cy="903501"/>
        </p:xfrm>
        <a:graphic>
          <a:graphicData uri="http://schemas.openxmlformats.org/drawingml/2006/table">
            <a:tbl>
              <a:tblPr firstRow="1" bandRow="1">
                <a:tableStyleId>{7DF18680-E054-41AD-8BC1-D1AEF772440D}</a:tableStyleId>
              </a:tblPr>
              <a:tblGrid>
                <a:gridCol w="481331">
                  <a:extLst>
                    <a:ext uri="{9D8B030D-6E8A-4147-A177-3AD203B41FA5}">
                      <a16:colId xmlns:a16="http://schemas.microsoft.com/office/drawing/2014/main" val="2845333639"/>
                    </a:ext>
                  </a:extLst>
                </a:gridCol>
              </a:tblGrid>
              <a:tr h="301167">
                <a:tc>
                  <a:txBody>
                    <a:bodyPr/>
                    <a:lstStyle/>
                    <a:p>
                      <a:r>
                        <a:rPr lang="en-US" sz="900" b="0"/>
                        <a:t>0.009</a:t>
                      </a:r>
                    </a:p>
                  </a:txBody>
                  <a:tcPr/>
                </a:tc>
                <a:extLst>
                  <a:ext uri="{0D108BD9-81ED-4DB2-BD59-A6C34878D82A}">
                    <a16:rowId xmlns:a16="http://schemas.microsoft.com/office/drawing/2014/main" val="2624241107"/>
                  </a:ext>
                </a:extLst>
              </a:tr>
              <a:tr h="301167">
                <a:tc>
                  <a:txBody>
                    <a:bodyPr/>
                    <a:lstStyle/>
                    <a:p>
                      <a:r>
                        <a:rPr lang="en-US" sz="900"/>
                        <a:t>0.003</a:t>
                      </a:r>
                    </a:p>
                  </a:txBody>
                  <a:tcPr/>
                </a:tc>
                <a:extLst>
                  <a:ext uri="{0D108BD9-81ED-4DB2-BD59-A6C34878D82A}">
                    <a16:rowId xmlns:a16="http://schemas.microsoft.com/office/drawing/2014/main" val="3608357905"/>
                  </a:ext>
                </a:extLst>
              </a:tr>
              <a:tr h="301167">
                <a:tc>
                  <a:txBody>
                    <a:bodyPr/>
                    <a:lstStyle/>
                    <a:p>
                      <a:r>
                        <a:rPr lang="en-US" sz="900"/>
                        <a:t>-0.04</a:t>
                      </a:r>
                    </a:p>
                  </a:txBody>
                  <a:tcPr/>
                </a:tc>
                <a:extLst>
                  <a:ext uri="{0D108BD9-81ED-4DB2-BD59-A6C34878D82A}">
                    <a16:rowId xmlns:a16="http://schemas.microsoft.com/office/drawing/2014/main" val="3464769889"/>
                  </a:ext>
                </a:extLst>
              </a:tr>
            </a:tbl>
          </a:graphicData>
        </a:graphic>
      </p:graphicFrame>
      <p:graphicFrame>
        <p:nvGraphicFramePr>
          <p:cNvPr id="36" name="Table 35">
            <a:extLst>
              <a:ext uri="{FF2B5EF4-FFF2-40B4-BE49-F238E27FC236}">
                <a16:creationId xmlns:a16="http://schemas.microsoft.com/office/drawing/2014/main" id="{B8E607F1-41F6-FFCB-8CED-83DA7607201E}"/>
              </a:ext>
            </a:extLst>
          </p:cNvPr>
          <p:cNvGraphicFramePr>
            <a:graphicFrameLocks noGrp="1"/>
          </p:cNvGraphicFramePr>
          <p:nvPr/>
        </p:nvGraphicFramePr>
        <p:xfrm>
          <a:off x="6270235" y="1819439"/>
          <a:ext cx="479331" cy="903501"/>
        </p:xfrm>
        <a:graphic>
          <a:graphicData uri="http://schemas.openxmlformats.org/drawingml/2006/table">
            <a:tbl>
              <a:tblPr firstRow="1" bandRow="1">
                <a:tableStyleId>{7DF18680-E054-41AD-8BC1-D1AEF772440D}</a:tableStyleId>
              </a:tblPr>
              <a:tblGrid>
                <a:gridCol w="479331">
                  <a:extLst>
                    <a:ext uri="{9D8B030D-6E8A-4147-A177-3AD203B41FA5}">
                      <a16:colId xmlns:a16="http://schemas.microsoft.com/office/drawing/2014/main" val="2845333639"/>
                    </a:ext>
                  </a:extLst>
                </a:gridCol>
              </a:tblGrid>
              <a:tr h="301167">
                <a:tc>
                  <a:txBody>
                    <a:bodyPr/>
                    <a:lstStyle/>
                    <a:p>
                      <a:r>
                        <a:rPr lang="en-US" sz="900" b="0"/>
                        <a:t>0.009</a:t>
                      </a:r>
                    </a:p>
                  </a:txBody>
                  <a:tcPr/>
                </a:tc>
                <a:extLst>
                  <a:ext uri="{0D108BD9-81ED-4DB2-BD59-A6C34878D82A}">
                    <a16:rowId xmlns:a16="http://schemas.microsoft.com/office/drawing/2014/main" val="2624241107"/>
                  </a:ext>
                </a:extLst>
              </a:tr>
              <a:tr h="301167">
                <a:tc>
                  <a:txBody>
                    <a:bodyPr/>
                    <a:lstStyle/>
                    <a:p>
                      <a:r>
                        <a:rPr lang="en-US" sz="900"/>
                        <a:t>0.003</a:t>
                      </a:r>
                    </a:p>
                  </a:txBody>
                  <a:tcPr/>
                </a:tc>
                <a:extLst>
                  <a:ext uri="{0D108BD9-81ED-4DB2-BD59-A6C34878D82A}">
                    <a16:rowId xmlns:a16="http://schemas.microsoft.com/office/drawing/2014/main" val="3608357905"/>
                  </a:ext>
                </a:extLst>
              </a:tr>
              <a:tr h="301167">
                <a:tc>
                  <a:txBody>
                    <a:bodyPr/>
                    <a:lstStyle/>
                    <a:p>
                      <a:r>
                        <a:rPr lang="en-US" sz="900"/>
                        <a:t>-0.04</a:t>
                      </a:r>
                    </a:p>
                  </a:txBody>
                  <a:tcPr/>
                </a:tc>
                <a:extLst>
                  <a:ext uri="{0D108BD9-81ED-4DB2-BD59-A6C34878D82A}">
                    <a16:rowId xmlns:a16="http://schemas.microsoft.com/office/drawing/2014/main" val="3464769889"/>
                  </a:ext>
                </a:extLst>
              </a:tr>
            </a:tbl>
          </a:graphicData>
        </a:graphic>
      </p:graphicFrame>
      <p:graphicFrame>
        <p:nvGraphicFramePr>
          <p:cNvPr id="37" name="Table 36">
            <a:extLst>
              <a:ext uri="{FF2B5EF4-FFF2-40B4-BE49-F238E27FC236}">
                <a16:creationId xmlns:a16="http://schemas.microsoft.com/office/drawing/2014/main" id="{19B1ECCA-FCEA-DCBD-1370-76619980549D}"/>
              </a:ext>
            </a:extLst>
          </p:cNvPr>
          <p:cNvGraphicFramePr>
            <a:graphicFrameLocks noGrp="1"/>
          </p:cNvGraphicFramePr>
          <p:nvPr/>
        </p:nvGraphicFramePr>
        <p:xfrm>
          <a:off x="4972320" y="5381645"/>
          <a:ext cx="479331" cy="1204668"/>
        </p:xfrm>
        <a:graphic>
          <a:graphicData uri="http://schemas.openxmlformats.org/drawingml/2006/table">
            <a:tbl>
              <a:tblPr firstRow="1" bandRow="1">
                <a:tableStyleId>{5C22544A-7EE6-4342-B048-85BDC9FD1C3A}</a:tableStyleId>
              </a:tblPr>
              <a:tblGrid>
                <a:gridCol w="479331">
                  <a:extLst>
                    <a:ext uri="{9D8B030D-6E8A-4147-A177-3AD203B41FA5}">
                      <a16:colId xmlns:a16="http://schemas.microsoft.com/office/drawing/2014/main" val="2845333639"/>
                    </a:ext>
                  </a:extLst>
                </a:gridCol>
              </a:tblGrid>
              <a:tr h="301167">
                <a:tc>
                  <a:txBody>
                    <a:bodyPr/>
                    <a:lstStyle/>
                    <a:p>
                      <a:r>
                        <a:rPr lang="en-US" sz="900" b="0"/>
                        <a:t>0.009</a:t>
                      </a:r>
                    </a:p>
                  </a:txBody>
                  <a:tcPr/>
                </a:tc>
                <a:extLst>
                  <a:ext uri="{0D108BD9-81ED-4DB2-BD59-A6C34878D82A}">
                    <a16:rowId xmlns:a16="http://schemas.microsoft.com/office/drawing/2014/main" val="2624241107"/>
                  </a:ext>
                </a:extLst>
              </a:tr>
              <a:tr h="301167">
                <a:tc>
                  <a:txBody>
                    <a:bodyPr/>
                    <a:lstStyle/>
                    <a:p>
                      <a:r>
                        <a:rPr lang="en-US" sz="900"/>
                        <a:t>0.003</a:t>
                      </a:r>
                    </a:p>
                  </a:txBody>
                  <a:tcPr/>
                </a:tc>
                <a:extLst>
                  <a:ext uri="{0D108BD9-81ED-4DB2-BD59-A6C34878D82A}">
                    <a16:rowId xmlns:a16="http://schemas.microsoft.com/office/drawing/2014/main" val="3608357905"/>
                  </a:ext>
                </a:extLst>
              </a:tr>
              <a:tr h="301167">
                <a:tc>
                  <a:txBody>
                    <a:bodyPr/>
                    <a:lstStyle/>
                    <a:p>
                      <a:r>
                        <a:rPr lang="en-US" sz="900"/>
                        <a:t>-0.04</a:t>
                      </a:r>
                    </a:p>
                  </a:txBody>
                  <a:tcPr/>
                </a:tc>
                <a:extLst>
                  <a:ext uri="{0D108BD9-81ED-4DB2-BD59-A6C34878D82A}">
                    <a16:rowId xmlns:a16="http://schemas.microsoft.com/office/drawing/2014/main" val="3464769889"/>
                  </a:ext>
                </a:extLst>
              </a:tr>
              <a:tr h="301167">
                <a:tc>
                  <a:txBody>
                    <a:bodyPr/>
                    <a:lstStyle/>
                    <a:p>
                      <a:r>
                        <a:rPr lang="en-US" sz="900"/>
                        <a:t>0.005</a:t>
                      </a:r>
                    </a:p>
                  </a:txBody>
                  <a:tcPr/>
                </a:tc>
                <a:extLst>
                  <a:ext uri="{0D108BD9-81ED-4DB2-BD59-A6C34878D82A}">
                    <a16:rowId xmlns:a16="http://schemas.microsoft.com/office/drawing/2014/main" val="361687033"/>
                  </a:ext>
                </a:extLst>
              </a:tr>
            </a:tbl>
          </a:graphicData>
        </a:graphic>
      </p:graphicFrame>
      <p:cxnSp>
        <p:nvCxnSpPr>
          <p:cNvPr id="48" name="Connector: Elbow 47">
            <a:extLst>
              <a:ext uri="{FF2B5EF4-FFF2-40B4-BE49-F238E27FC236}">
                <a16:creationId xmlns:a16="http://schemas.microsoft.com/office/drawing/2014/main" id="{7E997481-F223-B5B0-EB39-57D6580C8CAA}"/>
              </a:ext>
            </a:extLst>
          </p:cNvPr>
          <p:cNvCxnSpPr>
            <a:cxnSpLocks/>
            <a:stCxn id="27" idx="3"/>
            <a:endCxn id="31" idx="0"/>
          </p:cNvCxnSpPr>
          <p:nvPr/>
        </p:nvCxnSpPr>
        <p:spPr>
          <a:xfrm>
            <a:off x="5262632" y="3423013"/>
            <a:ext cx="245003" cy="1326108"/>
          </a:xfrm>
          <a:prstGeom prst="bentConnector2">
            <a:avLst/>
          </a:prstGeom>
          <a:ln w="28575">
            <a:solidFill>
              <a:schemeClr val="accent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0" name="Connector: Elbow 49">
            <a:extLst>
              <a:ext uri="{FF2B5EF4-FFF2-40B4-BE49-F238E27FC236}">
                <a16:creationId xmlns:a16="http://schemas.microsoft.com/office/drawing/2014/main" id="{FECE3534-BDA2-730C-8491-9CB7591346E0}"/>
              </a:ext>
            </a:extLst>
          </p:cNvPr>
          <p:cNvCxnSpPr>
            <a:cxnSpLocks/>
            <a:endCxn id="32" idx="2"/>
          </p:cNvCxnSpPr>
          <p:nvPr/>
        </p:nvCxnSpPr>
        <p:spPr>
          <a:xfrm flipV="1">
            <a:off x="5260007" y="2852851"/>
            <a:ext cx="908976" cy="288943"/>
          </a:xfrm>
          <a:prstGeom prst="bentConnector2">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53" name="Flowchart: Magnetic Disk 52">
            <a:extLst>
              <a:ext uri="{FF2B5EF4-FFF2-40B4-BE49-F238E27FC236}">
                <a16:creationId xmlns:a16="http://schemas.microsoft.com/office/drawing/2014/main" id="{A83242D3-3E88-784C-11C0-D29652C562AF}"/>
              </a:ext>
            </a:extLst>
          </p:cNvPr>
          <p:cNvSpPr/>
          <p:nvPr/>
        </p:nvSpPr>
        <p:spPr>
          <a:xfrm>
            <a:off x="7152271" y="2926581"/>
            <a:ext cx="1431152" cy="991487"/>
          </a:xfrm>
          <a:prstGeom prst="flowChartMagneticDisk">
            <a:avLst/>
          </a:prstGeom>
          <a:solidFill>
            <a:schemeClr val="accent6">
              <a:lumMod val="60000"/>
              <a:lumOff val="40000"/>
            </a:schemeClr>
          </a:solidFill>
          <a:ln>
            <a:solidFill>
              <a:schemeClr val="accent6">
                <a:lumMod val="7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IN" sz="1600">
                <a:solidFill>
                  <a:prstClr val="black"/>
                </a:solidFill>
                <a:latin typeface="Aptos" panose="02110004020202020204"/>
              </a:rPr>
              <a:t>Vector Store</a:t>
            </a:r>
          </a:p>
        </p:txBody>
      </p:sp>
      <p:cxnSp>
        <p:nvCxnSpPr>
          <p:cNvPr id="57" name="Connector: Elbow 56">
            <a:extLst>
              <a:ext uri="{FF2B5EF4-FFF2-40B4-BE49-F238E27FC236}">
                <a16:creationId xmlns:a16="http://schemas.microsoft.com/office/drawing/2014/main" id="{64A43BD0-C7FA-53DD-4DD9-925573A3D2D2}"/>
              </a:ext>
            </a:extLst>
          </p:cNvPr>
          <p:cNvCxnSpPr>
            <a:cxnSpLocks/>
            <a:stCxn id="32" idx="3"/>
          </p:cNvCxnSpPr>
          <p:nvPr/>
        </p:nvCxnSpPr>
        <p:spPr>
          <a:xfrm>
            <a:off x="6919737" y="2038386"/>
            <a:ext cx="967707" cy="901551"/>
          </a:xfrm>
          <a:prstGeom prst="bentConnector2">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59" name="Connector: Elbow 58">
            <a:extLst>
              <a:ext uri="{FF2B5EF4-FFF2-40B4-BE49-F238E27FC236}">
                <a16:creationId xmlns:a16="http://schemas.microsoft.com/office/drawing/2014/main" id="{4E735BF9-4368-6A14-E6AA-71C04CD7820E}"/>
              </a:ext>
            </a:extLst>
          </p:cNvPr>
          <p:cNvCxnSpPr>
            <a:cxnSpLocks/>
            <a:endCxn id="53" idx="2"/>
          </p:cNvCxnSpPr>
          <p:nvPr/>
        </p:nvCxnSpPr>
        <p:spPr>
          <a:xfrm flipV="1">
            <a:off x="5734493" y="3422324"/>
            <a:ext cx="1417779" cy="1326797"/>
          </a:xfrm>
          <a:prstGeom prst="bentConnector3">
            <a:avLst>
              <a:gd name="adj1" fmla="val -163"/>
            </a:avLst>
          </a:prstGeom>
          <a:ln w="28575">
            <a:solidFill>
              <a:schemeClr val="accent1">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3C0876D5-6513-75DB-AE99-182B5EB12559}"/>
              </a:ext>
            </a:extLst>
          </p:cNvPr>
          <p:cNvSpPr/>
          <p:nvPr/>
        </p:nvSpPr>
        <p:spPr>
          <a:xfrm>
            <a:off x="8148108" y="1256965"/>
            <a:ext cx="1543987" cy="778099"/>
          </a:xfrm>
          <a:prstGeom prst="rect">
            <a:avLst/>
          </a:prstGeom>
          <a:solidFill>
            <a:schemeClr val="accent5">
              <a:lumMod val="60000"/>
              <a:lumOff val="4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600">
                <a:solidFill>
                  <a:schemeClr val="tx1"/>
                </a:solidFill>
                <a:latin typeface="Aptos" panose="02110004020202020204"/>
              </a:rPr>
              <a:t>Relevant Document Chunk</a:t>
            </a:r>
          </a:p>
        </p:txBody>
      </p:sp>
      <p:cxnSp>
        <p:nvCxnSpPr>
          <p:cNvPr id="76" name="Straight Arrow Connector 75">
            <a:extLst>
              <a:ext uri="{FF2B5EF4-FFF2-40B4-BE49-F238E27FC236}">
                <a16:creationId xmlns:a16="http://schemas.microsoft.com/office/drawing/2014/main" id="{BA6B7D4F-99BD-455B-720B-7F70589EB4E6}"/>
              </a:ext>
            </a:extLst>
          </p:cNvPr>
          <p:cNvCxnSpPr>
            <a:cxnSpLocks/>
          </p:cNvCxnSpPr>
          <p:nvPr/>
        </p:nvCxnSpPr>
        <p:spPr>
          <a:xfrm>
            <a:off x="9733563" y="1625489"/>
            <a:ext cx="342075" cy="0"/>
          </a:xfrm>
          <a:prstGeom prst="straightConnector1">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91" name="TextBox 90">
            <a:extLst>
              <a:ext uri="{FF2B5EF4-FFF2-40B4-BE49-F238E27FC236}">
                <a16:creationId xmlns:a16="http://schemas.microsoft.com/office/drawing/2014/main" id="{D99522C1-F9DC-9180-6065-0BF8F6510869}"/>
              </a:ext>
            </a:extLst>
          </p:cNvPr>
          <p:cNvSpPr txBox="1"/>
          <p:nvPr/>
        </p:nvSpPr>
        <p:spPr>
          <a:xfrm>
            <a:off x="7113275" y="6019030"/>
            <a:ext cx="1280924" cy="338554"/>
          </a:xfrm>
          <a:prstGeom prst="rect">
            <a:avLst/>
          </a:prstGeom>
          <a:noFill/>
        </p:spPr>
        <p:txBody>
          <a:bodyPr wrap="square" rtlCol="0">
            <a:spAutoFit/>
          </a:bodyPr>
          <a:lstStyle/>
          <a:p>
            <a:pPr>
              <a:defRPr/>
            </a:pPr>
            <a:r>
              <a:rPr lang="en-US" sz="1600" b="1">
                <a:solidFill>
                  <a:prstClr val="white"/>
                </a:solidFill>
                <a:latin typeface="Aptos" panose="02110004020202020204"/>
              </a:rPr>
              <a:t>Response</a:t>
            </a:r>
          </a:p>
        </p:txBody>
      </p:sp>
      <p:sp>
        <p:nvSpPr>
          <p:cNvPr id="92" name="TextBox 91">
            <a:extLst>
              <a:ext uri="{FF2B5EF4-FFF2-40B4-BE49-F238E27FC236}">
                <a16:creationId xmlns:a16="http://schemas.microsoft.com/office/drawing/2014/main" id="{C932475F-B461-98D1-C1F6-A9896998F7B6}"/>
              </a:ext>
            </a:extLst>
          </p:cNvPr>
          <p:cNvSpPr txBox="1"/>
          <p:nvPr/>
        </p:nvSpPr>
        <p:spPr>
          <a:xfrm>
            <a:off x="6783723" y="2080966"/>
            <a:ext cx="1217684" cy="584775"/>
          </a:xfrm>
          <a:prstGeom prst="rect">
            <a:avLst/>
          </a:prstGeom>
          <a:noFill/>
        </p:spPr>
        <p:txBody>
          <a:bodyPr wrap="square" rtlCol="0">
            <a:spAutoFit/>
          </a:bodyPr>
          <a:lstStyle/>
          <a:p>
            <a:pPr algn="ctr">
              <a:defRPr/>
            </a:pPr>
            <a:r>
              <a:rPr lang="en-IN" sz="1600">
                <a:solidFill>
                  <a:prstClr val="black"/>
                </a:solidFill>
                <a:latin typeface="Aptos" panose="02110004020202020204"/>
              </a:rPr>
              <a:t>Similarity Search</a:t>
            </a:r>
          </a:p>
        </p:txBody>
      </p:sp>
      <p:sp>
        <p:nvSpPr>
          <p:cNvPr id="117" name="Title 27">
            <a:extLst>
              <a:ext uri="{FF2B5EF4-FFF2-40B4-BE49-F238E27FC236}">
                <a16:creationId xmlns:a16="http://schemas.microsoft.com/office/drawing/2014/main" id="{7E82199D-707F-92B0-8376-E91BA7C9A3DD}"/>
              </a:ext>
            </a:extLst>
          </p:cNvPr>
          <p:cNvSpPr>
            <a:spLocks noGrp="1"/>
          </p:cNvSpPr>
          <p:nvPr>
            <p:ph type="title"/>
          </p:nvPr>
        </p:nvSpPr>
        <p:spPr>
          <a:xfrm>
            <a:off x="291052" y="14041"/>
            <a:ext cx="11934677" cy="737369"/>
          </a:xfrm>
        </p:spPr>
        <p:txBody>
          <a:bodyPr>
            <a:noAutofit/>
          </a:bodyPr>
          <a:lstStyle/>
          <a:p>
            <a:r>
              <a:rPr lang="en-IN" sz="3600" dirty="0">
                <a:cs typeface="Arial"/>
              </a:rPr>
              <a:t>Retrieval-Augmented Generation</a:t>
            </a:r>
            <a:r>
              <a:rPr lang="en-US" sz="3600" dirty="0">
                <a:cs typeface="Arial"/>
              </a:rPr>
              <a:t> (RAG) Architecture</a:t>
            </a:r>
          </a:p>
        </p:txBody>
      </p:sp>
      <p:pic>
        <p:nvPicPr>
          <p:cNvPr id="123" name="Graphic 122" descr="User with solid fill">
            <a:extLst>
              <a:ext uri="{FF2B5EF4-FFF2-40B4-BE49-F238E27FC236}">
                <a16:creationId xmlns:a16="http://schemas.microsoft.com/office/drawing/2014/main" id="{B415217A-E7BC-B72F-02BC-0C3960C39DBC}"/>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5457" y="1059564"/>
            <a:ext cx="448744" cy="448744"/>
          </a:xfrm>
          <a:prstGeom prst="rect">
            <a:avLst/>
          </a:prstGeom>
        </p:spPr>
      </p:pic>
      <p:sp>
        <p:nvSpPr>
          <p:cNvPr id="8" name="TextBox 7">
            <a:extLst>
              <a:ext uri="{FF2B5EF4-FFF2-40B4-BE49-F238E27FC236}">
                <a16:creationId xmlns:a16="http://schemas.microsoft.com/office/drawing/2014/main" id="{EB77AEBA-7799-A4D4-4D0B-DA1EED444445}"/>
              </a:ext>
            </a:extLst>
          </p:cNvPr>
          <p:cNvSpPr txBox="1"/>
          <p:nvPr/>
        </p:nvSpPr>
        <p:spPr>
          <a:xfrm>
            <a:off x="2377066" y="5647512"/>
            <a:ext cx="620683" cy="276999"/>
          </a:xfrm>
          <a:prstGeom prst="rect">
            <a:avLst/>
          </a:prstGeom>
          <a:solidFill>
            <a:schemeClr val="tx2">
              <a:lumMod val="50000"/>
              <a:lumOff val="50000"/>
            </a:schemeClr>
          </a:solidFill>
          <a:ln>
            <a:solidFill>
              <a:schemeClr val="accent1">
                <a:lumMod val="50000"/>
              </a:schemeClr>
            </a:solidFill>
          </a:ln>
        </p:spPr>
        <p:txBody>
          <a:bodyPr wrap="none" rtlCol="0" anchor="ctr">
            <a:spAutoFit/>
          </a:bodyPr>
          <a:lstStyle/>
          <a:p>
            <a:pPr>
              <a:defRPr/>
            </a:pPr>
            <a:r>
              <a:rPr lang="en-US" sz="1200" b="1">
                <a:solidFill>
                  <a:prstClr val="black"/>
                </a:solidFill>
                <a:latin typeface="Aptos" panose="02110004020202020204"/>
              </a:rPr>
              <a:t>chunk</a:t>
            </a:r>
          </a:p>
        </p:txBody>
      </p:sp>
      <p:sp>
        <p:nvSpPr>
          <p:cNvPr id="9" name="TextBox 8">
            <a:extLst>
              <a:ext uri="{FF2B5EF4-FFF2-40B4-BE49-F238E27FC236}">
                <a16:creationId xmlns:a16="http://schemas.microsoft.com/office/drawing/2014/main" id="{2112836A-A38E-978F-8DBD-7B6E9DABF7B0}"/>
              </a:ext>
            </a:extLst>
          </p:cNvPr>
          <p:cNvSpPr txBox="1"/>
          <p:nvPr/>
        </p:nvSpPr>
        <p:spPr>
          <a:xfrm>
            <a:off x="3072177" y="5256632"/>
            <a:ext cx="620683" cy="276999"/>
          </a:xfrm>
          <a:prstGeom prst="rect">
            <a:avLst/>
          </a:prstGeom>
          <a:solidFill>
            <a:schemeClr val="tx2">
              <a:lumMod val="50000"/>
              <a:lumOff val="50000"/>
            </a:schemeClr>
          </a:solidFill>
          <a:ln>
            <a:solidFill>
              <a:schemeClr val="accent1">
                <a:lumMod val="50000"/>
              </a:schemeClr>
            </a:solidFill>
          </a:ln>
        </p:spPr>
        <p:txBody>
          <a:bodyPr wrap="none" rtlCol="0" anchor="ctr">
            <a:spAutoFit/>
          </a:bodyPr>
          <a:lstStyle/>
          <a:p>
            <a:pPr>
              <a:defRPr/>
            </a:pPr>
            <a:r>
              <a:rPr lang="en-US" sz="1200" b="1">
                <a:solidFill>
                  <a:prstClr val="black"/>
                </a:solidFill>
                <a:latin typeface="Aptos" panose="02110004020202020204"/>
              </a:rPr>
              <a:t>chunk</a:t>
            </a:r>
          </a:p>
        </p:txBody>
      </p:sp>
      <p:sp>
        <p:nvSpPr>
          <p:cNvPr id="14" name="TextBox 13">
            <a:extLst>
              <a:ext uri="{FF2B5EF4-FFF2-40B4-BE49-F238E27FC236}">
                <a16:creationId xmlns:a16="http://schemas.microsoft.com/office/drawing/2014/main" id="{314BF0B0-F56D-B2A9-8874-C61BF84245DE}"/>
              </a:ext>
            </a:extLst>
          </p:cNvPr>
          <p:cNvSpPr txBox="1"/>
          <p:nvPr/>
        </p:nvSpPr>
        <p:spPr>
          <a:xfrm>
            <a:off x="3080401" y="5655616"/>
            <a:ext cx="620683" cy="276999"/>
          </a:xfrm>
          <a:prstGeom prst="rect">
            <a:avLst/>
          </a:prstGeom>
          <a:solidFill>
            <a:schemeClr val="tx2">
              <a:lumMod val="50000"/>
              <a:lumOff val="50000"/>
            </a:schemeClr>
          </a:solidFill>
          <a:ln>
            <a:solidFill>
              <a:schemeClr val="accent1">
                <a:lumMod val="50000"/>
              </a:schemeClr>
            </a:solidFill>
          </a:ln>
        </p:spPr>
        <p:txBody>
          <a:bodyPr wrap="none" rtlCol="0" anchor="ctr">
            <a:spAutoFit/>
          </a:bodyPr>
          <a:lstStyle/>
          <a:p>
            <a:pPr>
              <a:defRPr/>
            </a:pPr>
            <a:r>
              <a:rPr lang="en-US" sz="1200" b="1">
                <a:solidFill>
                  <a:prstClr val="black"/>
                </a:solidFill>
                <a:latin typeface="Aptos" panose="02110004020202020204"/>
              </a:rPr>
              <a:t>chunk</a:t>
            </a:r>
          </a:p>
        </p:txBody>
      </p:sp>
      <p:cxnSp>
        <p:nvCxnSpPr>
          <p:cNvPr id="43" name="Connector: Elbow 42">
            <a:extLst>
              <a:ext uri="{FF2B5EF4-FFF2-40B4-BE49-F238E27FC236}">
                <a16:creationId xmlns:a16="http://schemas.microsoft.com/office/drawing/2014/main" id="{8A99225C-F73F-4BEB-66B4-A5B7993CF210}"/>
              </a:ext>
            </a:extLst>
          </p:cNvPr>
          <p:cNvCxnSpPr>
            <a:cxnSpLocks/>
          </p:cNvCxnSpPr>
          <p:nvPr/>
        </p:nvCxnSpPr>
        <p:spPr>
          <a:xfrm flipV="1">
            <a:off x="8567458" y="2035063"/>
            <a:ext cx="428087" cy="1377452"/>
          </a:xfrm>
          <a:prstGeom prst="bentConnector2">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58" name="Connector: Elbow 57">
            <a:extLst>
              <a:ext uri="{FF2B5EF4-FFF2-40B4-BE49-F238E27FC236}">
                <a16:creationId xmlns:a16="http://schemas.microsoft.com/office/drawing/2014/main" id="{D92F8B6A-381F-1521-CEFB-51565A84B315}"/>
              </a:ext>
            </a:extLst>
          </p:cNvPr>
          <p:cNvCxnSpPr>
            <a:cxnSpLocks/>
            <a:stCxn id="30" idx="0"/>
            <a:endCxn id="27" idx="1"/>
          </p:cNvCxnSpPr>
          <p:nvPr/>
        </p:nvCxnSpPr>
        <p:spPr>
          <a:xfrm rot="5400000" flipH="1" flipV="1">
            <a:off x="2643923" y="3805468"/>
            <a:ext cx="1457176" cy="692268"/>
          </a:xfrm>
          <a:prstGeom prst="bentConnector2">
            <a:avLst/>
          </a:prstGeom>
          <a:ln w="28575">
            <a:solidFill>
              <a:schemeClr val="accent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7" name="Straight Arrow Connector 96">
            <a:extLst>
              <a:ext uri="{FF2B5EF4-FFF2-40B4-BE49-F238E27FC236}">
                <a16:creationId xmlns:a16="http://schemas.microsoft.com/office/drawing/2014/main" id="{5A45AB75-3BA2-42E2-DD25-5B185957B814}"/>
              </a:ext>
            </a:extLst>
          </p:cNvPr>
          <p:cNvCxnSpPr/>
          <p:nvPr/>
        </p:nvCxnSpPr>
        <p:spPr>
          <a:xfrm>
            <a:off x="1678359" y="5533631"/>
            <a:ext cx="585995" cy="0"/>
          </a:xfrm>
          <a:prstGeom prst="straightConnector1">
            <a:avLst/>
          </a:prstGeom>
          <a:ln w="28575">
            <a:solidFill>
              <a:schemeClr val="accent1">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0" name="Straight Arrow Connector 149">
            <a:extLst>
              <a:ext uri="{FF2B5EF4-FFF2-40B4-BE49-F238E27FC236}">
                <a16:creationId xmlns:a16="http://schemas.microsoft.com/office/drawing/2014/main" id="{BF1DDE31-FDA8-7DDA-6DFF-63F08A54BD9C}"/>
              </a:ext>
            </a:extLst>
          </p:cNvPr>
          <p:cNvCxnSpPr>
            <a:cxnSpLocks/>
            <a:stCxn id="66" idx="2"/>
          </p:cNvCxnSpPr>
          <p:nvPr/>
        </p:nvCxnSpPr>
        <p:spPr>
          <a:xfrm>
            <a:off x="10981685" y="2038384"/>
            <a:ext cx="64227" cy="1360181"/>
          </a:xfrm>
          <a:prstGeom prst="straightConnector1">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57" name="Straight Arrow Connector 156">
            <a:extLst>
              <a:ext uri="{FF2B5EF4-FFF2-40B4-BE49-F238E27FC236}">
                <a16:creationId xmlns:a16="http://schemas.microsoft.com/office/drawing/2014/main" id="{8537EEEF-0837-7072-6FD1-3D5D9F06F8F0}"/>
              </a:ext>
            </a:extLst>
          </p:cNvPr>
          <p:cNvCxnSpPr>
            <a:cxnSpLocks/>
          </p:cNvCxnSpPr>
          <p:nvPr/>
        </p:nvCxnSpPr>
        <p:spPr>
          <a:xfrm>
            <a:off x="11060683" y="3878815"/>
            <a:ext cx="0" cy="1645920"/>
          </a:xfrm>
          <a:prstGeom prst="straightConnector1">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cxnSp>
        <p:nvCxnSpPr>
          <p:cNvPr id="163" name="Connector: Elbow 162">
            <a:extLst>
              <a:ext uri="{FF2B5EF4-FFF2-40B4-BE49-F238E27FC236}">
                <a16:creationId xmlns:a16="http://schemas.microsoft.com/office/drawing/2014/main" id="{BAAC00CF-4EE2-0449-8BBD-0F98C337EBC9}"/>
              </a:ext>
            </a:extLst>
          </p:cNvPr>
          <p:cNvCxnSpPr>
            <a:cxnSpLocks/>
            <a:stCxn id="113" idx="3"/>
            <a:endCxn id="27" idx="0"/>
          </p:cNvCxnSpPr>
          <p:nvPr/>
        </p:nvCxnSpPr>
        <p:spPr>
          <a:xfrm>
            <a:off x="2919837" y="1578477"/>
            <a:ext cx="1570803" cy="1357240"/>
          </a:xfrm>
          <a:prstGeom prst="bentConnector2">
            <a:avLst/>
          </a:prstGeom>
          <a:ln w="28575">
            <a:solidFill>
              <a:schemeClr val="accent5"/>
            </a:solidFill>
            <a:tailEnd type="triangle"/>
          </a:ln>
        </p:spPr>
        <p:style>
          <a:lnRef idx="2">
            <a:schemeClr val="accent1"/>
          </a:lnRef>
          <a:fillRef idx="0">
            <a:schemeClr val="accent1"/>
          </a:fillRef>
          <a:effectRef idx="1">
            <a:schemeClr val="accent1"/>
          </a:effectRef>
          <a:fontRef idx="minor">
            <a:schemeClr val="tx1"/>
          </a:fontRef>
        </p:style>
      </p:cxnSp>
      <p:sp>
        <p:nvSpPr>
          <p:cNvPr id="66" name="Rectangle 65">
            <a:extLst>
              <a:ext uri="{FF2B5EF4-FFF2-40B4-BE49-F238E27FC236}">
                <a16:creationId xmlns:a16="http://schemas.microsoft.com/office/drawing/2014/main" id="{7801EA4D-50BD-E9A3-8627-56341B059898}"/>
              </a:ext>
            </a:extLst>
          </p:cNvPr>
          <p:cNvSpPr/>
          <p:nvPr/>
        </p:nvSpPr>
        <p:spPr>
          <a:xfrm>
            <a:off x="10066177" y="1245557"/>
            <a:ext cx="1831017" cy="792828"/>
          </a:xfrm>
          <a:prstGeom prst="rect">
            <a:avLst/>
          </a:prstGeom>
          <a:solidFill>
            <a:schemeClr val="accent5">
              <a:lumMod val="5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600">
                <a:solidFill>
                  <a:prstClr val="white"/>
                </a:solidFill>
                <a:latin typeface="Aptos" panose="02110004020202020204"/>
              </a:rPr>
              <a:t>Prompt</a:t>
            </a:r>
          </a:p>
          <a:p>
            <a:pPr algn="ctr">
              <a:defRPr/>
            </a:pPr>
            <a:r>
              <a:rPr lang="en-US" sz="1600">
                <a:solidFill>
                  <a:prstClr val="white"/>
                </a:solidFill>
                <a:latin typeface="Aptos" panose="02110004020202020204"/>
              </a:rPr>
              <a:t>(User Query and Relevant Chunks) </a:t>
            </a:r>
          </a:p>
        </p:txBody>
      </p:sp>
      <p:sp>
        <p:nvSpPr>
          <p:cNvPr id="64" name="Rectangle 63">
            <a:extLst>
              <a:ext uri="{FF2B5EF4-FFF2-40B4-BE49-F238E27FC236}">
                <a16:creationId xmlns:a16="http://schemas.microsoft.com/office/drawing/2014/main" id="{55AE1F65-3843-D2FC-ADAF-2E6E31E235F9}"/>
              </a:ext>
            </a:extLst>
          </p:cNvPr>
          <p:cNvSpPr/>
          <p:nvPr/>
        </p:nvSpPr>
        <p:spPr>
          <a:xfrm>
            <a:off x="10288689" y="3433871"/>
            <a:ext cx="1543987" cy="576343"/>
          </a:xfrm>
          <a:prstGeom prst="rect">
            <a:avLst/>
          </a:prstGeom>
          <a:solidFill>
            <a:schemeClr val="accent6">
              <a:lumMod val="60000"/>
              <a:lumOff val="4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600">
                <a:solidFill>
                  <a:prstClr val="black"/>
                </a:solidFill>
                <a:latin typeface="Aptos" panose="02110004020202020204"/>
              </a:rPr>
              <a:t> LLM</a:t>
            </a:r>
          </a:p>
        </p:txBody>
      </p:sp>
      <p:sp>
        <p:nvSpPr>
          <p:cNvPr id="173" name="Rectangle: Rounded Corners 172">
            <a:extLst>
              <a:ext uri="{FF2B5EF4-FFF2-40B4-BE49-F238E27FC236}">
                <a16:creationId xmlns:a16="http://schemas.microsoft.com/office/drawing/2014/main" id="{3636BDB7-CD14-94B3-2BB4-9386C4C7DB1B}"/>
              </a:ext>
            </a:extLst>
          </p:cNvPr>
          <p:cNvSpPr/>
          <p:nvPr/>
        </p:nvSpPr>
        <p:spPr>
          <a:xfrm>
            <a:off x="5901966" y="834910"/>
            <a:ext cx="4063383" cy="253749"/>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RAG Arch : Response Retrieval Pipeline</a:t>
            </a:r>
          </a:p>
        </p:txBody>
      </p:sp>
      <p:graphicFrame>
        <p:nvGraphicFramePr>
          <p:cNvPr id="38" name="Table 37">
            <a:extLst>
              <a:ext uri="{FF2B5EF4-FFF2-40B4-BE49-F238E27FC236}">
                <a16:creationId xmlns:a16="http://schemas.microsoft.com/office/drawing/2014/main" id="{9BA75695-3179-66E7-9DDD-8E34D825712B}"/>
              </a:ext>
            </a:extLst>
          </p:cNvPr>
          <p:cNvGraphicFramePr>
            <a:graphicFrameLocks noGrp="1"/>
          </p:cNvGraphicFramePr>
          <p:nvPr/>
        </p:nvGraphicFramePr>
        <p:xfrm>
          <a:off x="5548985" y="5381645"/>
          <a:ext cx="479331" cy="1204668"/>
        </p:xfrm>
        <a:graphic>
          <a:graphicData uri="http://schemas.openxmlformats.org/drawingml/2006/table">
            <a:tbl>
              <a:tblPr firstRow="1" bandRow="1">
                <a:tableStyleId>{5C22544A-7EE6-4342-B048-85BDC9FD1C3A}</a:tableStyleId>
              </a:tblPr>
              <a:tblGrid>
                <a:gridCol w="479331">
                  <a:extLst>
                    <a:ext uri="{9D8B030D-6E8A-4147-A177-3AD203B41FA5}">
                      <a16:colId xmlns:a16="http://schemas.microsoft.com/office/drawing/2014/main" val="2845333639"/>
                    </a:ext>
                  </a:extLst>
                </a:gridCol>
              </a:tblGrid>
              <a:tr h="301167">
                <a:tc>
                  <a:txBody>
                    <a:bodyPr/>
                    <a:lstStyle/>
                    <a:p>
                      <a:r>
                        <a:rPr lang="en-US" sz="900" b="0"/>
                        <a:t>0.009</a:t>
                      </a:r>
                    </a:p>
                  </a:txBody>
                  <a:tcPr/>
                </a:tc>
                <a:extLst>
                  <a:ext uri="{0D108BD9-81ED-4DB2-BD59-A6C34878D82A}">
                    <a16:rowId xmlns:a16="http://schemas.microsoft.com/office/drawing/2014/main" val="2624241107"/>
                  </a:ext>
                </a:extLst>
              </a:tr>
              <a:tr h="301167">
                <a:tc>
                  <a:txBody>
                    <a:bodyPr/>
                    <a:lstStyle/>
                    <a:p>
                      <a:r>
                        <a:rPr lang="en-US" sz="900"/>
                        <a:t>0.003</a:t>
                      </a:r>
                    </a:p>
                  </a:txBody>
                  <a:tcPr/>
                </a:tc>
                <a:extLst>
                  <a:ext uri="{0D108BD9-81ED-4DB2-BD59-A6C34878D82A}">
                    <a16:rowId xmlns:a16="http://schemas.microsoft.com/office/drawing/2014/main" val="3608357905"/>
                  </a:ext>
                </a:extLst>
              </a:tr>
              <a:tr h="301167">
                <a:tc>
                  <a:txBody>
                    <a:bodyPr/>
                    <a:lstStyle/>
                    <a:p>
                      <a:r>
                        <a:rPr lang="en-US" sz="900"/>
                        <a:t>-0.04</a:t>
                      </a:r>
                    </a:p>
                  </a:txBody>
                  <a:tcPr/>
                </a:tc>
                <a:extLst>
                  <a:ext uri="{0D108BD9-81ED-4DB2-BD59-A6C34878D82A}">
                    <a16:rowId xmlns:a16="http://schemas.microsoft.com/office/drawing/2014/main" val="3464769889"/>
                  </a:ext>
                </a:extLst>
              </a:tr>
              <a:tr h="301167">
                <a:tc>
                  <a:txBody>
                    <a:bodyPr/>
                    <a:lstStyle/>
                    <a:p>
                      <a:r>
                        <a:rPr lang="en-US" sz="900"/>
                        <a:t>0.005</a:t>
                      </a:r>
                    </a:p>
                  </a:txBody>
                  <a:tcPr/>
                </a:tc>
                <a:extLst>
                  <a:ext uri="{0D108BD9-81ED-4DB2-BD59-A6C34878D82A}">
                    <a16:rowId xmlns:a16="http://schemas.microsoft.com/office/drawing/2014/main" val="361687033"/>
                  </a:ext>
                </a:extLst>
              </a:tr>
            </a:tbl>
          </a:graphicData>
        </a:graphic>
      </p:graphicFrame>
      <p:sp>
        <p:nvSpPr>
          <p:cNvPr id="47" name="Rectangle: Rounded Corners 46">
            <a:extLst>
              <a:ext uri="{FF2B5EF4-FFF2-40B4-BE49-F238E27FC236}">
                <a16:creationId xmlns:a16="http://schemas.microsoft.com/office/drawing/2014/main" id="{A0CD15DE-788F-C0AC-2037-4D11AC321B64}"/>
              </a:ext>
            </a:extLst>
          </p:cNvPr>
          <p:cNvSpPr/>
          <p:nvPr/>
        </p:nvSpPr>
        <p:spPr>
          <a:xfrm>
            <a:off x="299679" y="4134383"/>
            <a:ext cx="4099372" cy="266795"/>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Pipeline for Data Preparation and Info Extraction</a:t>
            </a:r>
          </a:p>
        </p:txBody>
      </p:sp>
      <p:sp>
        <p:nvSpPr>
          <p:cNvPr id="2" name="Speech Bubble: Rectangle 1">
            <a:extLst>
              <a:ext uri="{FF2B5EF4-FFF2-40B4-BE49-F238E27FC236}">
                <a16:creationId xmlns:a16="http://schemas.microsoft.com/office/drawing/2014/main" id="{24C61140-29B7-A954-5908-2D393C2D4533}"/>
              </a:ext>
            </a:extLst>
          </p:cNvPr>
          <p:cNvSpPr/>
          <p:nvPr/>
        </p:nvSpPr>
        <p:spPr>
          <a:xfrm>
            <a:off x="234728" y="3175202"/>
            <a:ext cx="2257505" cy="714789"/>
          </a:xfrm>
          <a:prstGeom prst="wedgeRectCallout">
            <a:avLst>
              <a:gd name="adj1" fmla="val 70531"/>
              <a:gd name="adj2" fmla="val 83847"/>
            </a:avLst>
          </a:prstGeom>
          <a:solidFill>
            <a:schemeClr val="accent6">
              <a:lumMod val="40000"/>
              <a:lumOff val="6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33">
                <a:solidFill>
                  <a:schemeClr val="tx1">
                    <a:lumMod val="95000"/>
                    <a:lumOff val="5000"/>
                  </a:schemeClr>
                </a:solidFill>
              </a:rPr>
              <a:t>1. Convert Text to Vectors for easy Search</a:t>
            </a:r>
          </a:p>
        </p:txBody>
      </p:sp>
      <p:sp>
        <p:nvSpPr>
          <p:cNvPr id="15" name="Speech Bubble: Rectangle 14">
            <a:extLst>
              <a:ext uri="{FF2B5EF4-FFF2-40B4-BE49-F238E27FC236}">
                <a16:creationId xmlns:a16="http://schemas.microsoft.com/office/drawing/2014/main" id="{A7E0E723-52EA-6ED5-92BE-319654783DDA}"/>
              </a:ext>
            </a:extLst>
          </p:cNvPr>
          <p:cNvSpPr/>
          <p:nvPr/>
        </p:nvSpPr>
        <p:spPr>
          <a:xfrm>
            <a:off x="8394201" y="2237530"/>
            <a:ext cx="2481116" cy="712465"/>
          </a:xfrm>
          <a:prstGeom prst="wedgeRectCallout">
            <a:avLst>
              <a:gd name="adj1" fmla="val -62313"/>
              <a:gd name="adj2" fmla="val 42240"/>
            </a:avLst>
          </a:prstGeom>
          <a:solidFill>
            <a:schemeClr val="accent6">
              <a:lumMod val="40000"/>
              <a:lumOff val="6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33">
                <a:solidFill>
                  <a:schemeClr val="tx1">
                    <a:lumMod val="95000"/>
                    <a:lumOff val="5000"/>
                  </a:schemeClr>
                </a:solidFill>
              </a:rPr>
              <a:t>3. Identify information related to the query to prepare Response</a:t>
            </a:r>
          </a:p>
        </p:txBody>
      </p:sp>
      <p:sp>
        <p:nvSpPr>
          <p:cNvPr id="16" name="Speech Bubble: Rectangle 15">
            <a:extLst>
              <a:ext uri="{FF2B5EF4-FFF2-40B4-BE49-F238E27FC236}">
                <a16:creationId xmlns:a16="http://schemas.microsoft.com/office/drawing/2014/main" id="{089F2CF0-1F0F-193C-CE57-160E48E7F4A7}"/>
              </a:ext>
            </a:extLst>
          </p:cNvPr>
          <p:cNvSpPr/>
          <p:nvPr/>
        </p:nvSpPr>
        <p:spPr>
          <a:xfrm>
            <a:off x="3051080" y="683346"/>
            <a:ext cx="1993064" cy="714789"/>
          </a:xfrm>
          <a:prstGeom prst="wedgeRectCallout">
            <a:avLst>
              <a:gd name="adj1" fmla="val 65864"/>
              <a:gd name="adj2" fmla="val 56472"/>
            </a:avLst>
          </a:prstGeom>
          <a:solidFill>
            <a:schemeClr val="accent6">
              <a:lumMod val="40000"/>
              <a:lumOff val="6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33">
                <a:solidFill>
                  <a:schemeClr val="tx1">
                    <a:lumMod val="95000"/>
                    <a:lumOff val="5000"/>
                  </a:schemeClr>
                </a:solidFill>
              </a:rPr>
              <a:t>2. Convert Query to Vectors for easy Search</a:t>
            </a:r>
          </a:p>
        </p:txBody>
      </p:sp>
      <p:sp>
        <p:nvSpPr>
          <p:cNvPr id="18" name="Speech Bubble: Rectangle 17">
            <a:extLst>
              <a:ext uri="{FF2B5EF4-FFF2-40B4-BE49-F238E27FC236}">
                <a16:creationId xmlns:a16="http://schemas.microsoft.com/office/drawing/2014/main" id="{8D105669-2DF9-96E4-BDBE-C542AE7B53AC}"/>
              </a:ext>
            </a:extLst>
          </p:cNvPr>
          <p:cNvSpPr/>
          <p:nvPr/>
        </p:nvSpPr>
        <p:spPr>
          <a:xfrm>
            <a:off x="7666639" y="3948567"/>
            <a:ext cx="2562795" cy="753208"/>
          </a:xfrm>
          <a:prstGeom prst="wedgeRectCallout">
            <a:avLst>
              <a:gd name="adj1" fmla="val 51640"/>
              <a:gd name="adj2" fmla="val -81483"/>
            </a:avLst>
          </a:prstGeom>
          <a:solidFill>
            <a:schemeClr val="accent6">
              <a:lumMod val="40000"/>
              <a:lumOff val="6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33">
                <a:solidFill>
                  <a:schemeClr val="tx1">
                    <a:lumMod val="95000"/>
                    <a:lumOff val="5000"/>
                  </a:schemeClr>
                </a:solidFill>
              </a:rPr>
              <a:t>4. Pass chunks relevant to query to LLM and get a response</a:t>
            </a:r>
          </a:p>
        </p:txBody>
      </p:sp>
    </p:spTree>
    <p:extLst>
      <p:ext uri="{BB962C8B-B14F-4D97-AF65-F5344CB8AC3E}">
        <p14:creationId xmlns:p14="http://schemas.microsoft.com/office/powerpoint/2010/main" val="386512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P spid="16"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Components</a:t>
            </a:r>
          </a:p>
        </p:txBody>
      </p:sp>
      <p:sp>
        <p:nvSpPr>
          <p:cNvPr id="3" name="Google Shape;337;g27476ab32b1_0_16">
            <a:extLst>
              <a:ext uri="{FF2B5EF4-FFF2-40B4-BE49-F238E27FC236}">
                <a16:creationId xmlns:a16="http://schemas.microsoft.com/office/drawing/2014/main" id="{7C677D16-8A71-2F6D-DD8B-AF68F58EDAFB}"/>
              </a:ext>
            </a:extLst>
          </p:cNvPr>
          <p:cNvSpPr txBox="1">
            <a:spLocks/>
          </p:cNvSpPr>
          <p:nvPr/>
        </p:nvSpPr>
        <p:spPr>
          <a:xfrm>
            <a:off x="670170" y="1097280"/>
            <a:ext cx="5202310" cy="4937760"/>
          </a:xfrm>
          <a:prstGeom prst="rect">
            <a:avLst/>
          </a:prstGeom>
          <a:noFill/>
          <a:ln>
            <a:noFill/>
          </a:ln>
        </p:spPr>
        <p:txBody>
          <a:bodyPr spcFirstLastPara="1" wrap="square" lIns="91425" tIns="45700" rIns="91425" bIns="45700" anchor="t" anchorCtr="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14300">
              <a:spcBef>
                <a:spcPts val="0"/>
              </a:spcBef>
              <a:buFont typeface="Arial" panose="020B0604020202020204" pitchFamily="34" charset="0"/>
              <a:buNone/>
            </a:pPr>
            <a:endParaRPr lang="en-US" sz="1400" dirty="0">
              <a:solidFill>
                <a:schemeClr val="dk1"/>
              </a:solidFill>
              <a:highlight>
                <a:srgbClr val="FFFFFF"/>
              </a:highlight>
            </a:endParaRPr>
          </a:p>
          <a:p>
            <a:pPr algn="just">
              <a:buNone/>
            </a:pPr>
            <a:r>
              <a:rPr lang="en-US" sz="1600" b="1" dirty="0">
                <a:solidFill>
                  <a:srgbClr val="333333"/>
                </a:solidFill>
                <a:latin typeface="Arial" panose="020B0604020202020204" pitchFamily="34" charset="0"/>
                <a:cs typeface="Arial" panose="020B0604020202020204" pitchFamily="34" charset="0"/>
              </a:rPr>
              <a:t>External data</a:t>
            </a:r>
            <a:endParaRPr lang="en-US" sz="1600" dirty="0">
              <a:latin typeface="Arial" panose="020B0604020202020204" pitchFamily="34" charset="0"/>
              <a:cs typeface="Arial" panose="020B0604020202020204" pitchFamily="34" charset="0"/>
            </a:endParaRPr>
          </a:p>
          <a:p>
            <a:pPr algn="just">
              <a:buFont typeface="Wingdings" panose="05000000000000000000" pitchFamily="2" charset="2"/>
              <a:buChar char="q"/>
            </a:pPr>
            <a:r>
              <a:rPr lang="en-US" sz="1600" dirty="0">
                <a:solidFill>
                  <a:srgbClr val="333333"/>
                </a:solidFill>
                <a:latin typeface="Arial" panose="020B0604020202020204" pitchFamily="34" charset="0"/>
                <a:cs typeface="Arial" panose="020B0604020202020204" pitchFamily="34" charset="0"/>
              </a:rPr>
              <a:t> The new data outside of the LLM's original training data set is called external data.</a:t>
            </a:r>
          </a:p>
          <a:p>
            <a:pPr algn="just">
              <a:buFont typeface="Wingdings" panose="05000000000000000000" pitchFamily="2" charset="2"/>
              <a:buChar char="q"/>
            </a:pPr>
            <a:r>
              <a:rPr lang="en-US" sz="1600" dirty="0">
                <a:solidFill>
                  <a:srgbClr val="333333"/>
                </a:solidFill>
                <a:latin typeface="Arial" panose="020B0604020202020204" pitchFamily="34" charset="0"/>
                <a:cs typeface="Arial" panose="020B0604020202020204" pitchFamily="34" charset="0"/>
              </a:rPr>
              <a:t> It can come from multiple data sources, such as a APIs, databases, or document repositories. </a:t>
            </a:r>
          </a:p>
          <a:p>
            <a:pPr algn="just">
              <a:buFont typeface="Wingdings" panose="05000000000000000000" pitchFamily="2" charset="2"/>
              <a:buChar char="q"/>
            </a:pPr>
            <a:r>
              <a:rPr lang="en-US" sz="1600" dirty="0">
                <a:solidFill>
                  <a:srgbClr val="333333"/>
                </a:solidFill>
                <a:latin typeface="Arial" panose="020B0604020202020204" pitchFamily="34" charset="0"/>
                <a:cs typeface="Arial" panose="020B0604020202020204" pitchFamily="34" charset="0"/>
              </a:rPr>
              <a:t>The data may exist in various formats like pdf files, database records, or long-form text.</a:t>
            </a:r>
          </a:p>
          <a:p>
            <a:pPr marL="0" indent="0" algn="just">
              <a:buNone/>
            </a:pPr>
            <a:endParaRPr lang="en-US" sz="1600" dirty="0">
              <a:solidFill>
                <a:srgbClr val="333333"/>
              </a:solidFill>
              <a:latin typeface="Arial" panose="020B0604020202020204" pitchFamily="34" charset="0"/>
              <a:cs typeface="Arial" panose="020B0604020202020204" pitchFamily="34" charset="0"/>
            </a:endParaRPr>
          </a:p>
          <a:p>
            <a:pPr marL="0" indent="0" algn="just">
              <a:buNone/>
            </a:pPr>
            <a:r>
              <a:rPr lang="en-US" sz="1600" b="1" dirty="0">
                <a:highlight>
                  <a:srgbClr val="FFFFFF"/>
                </a:highlight>
                <a:latin typeface="Arial" panose="020B0604020202020204" pitchFamily="34" charset="0"/>
                <a:ea typeface="Roboto"/>
                <a:cs typeface="Arial" panose="020B0604020202020204" pitchFamily="34" charset="0"/>
              </a:rPr>
              <a:t>Data Chunking</a:t>
            </a:r>
            <a:r>
              <a:rPr lang="en-US" sz="1600" dirty="0">
                <a:highlight>
                  <a:srgbClr val="FFFFFF"/>
                </a:highlight>
                <a:latin typeface="Arial" panose="020B0604020202020204" pitchFamily="34" charset="0"/>
                <a:ea typeface="Roboto"/>
                <a:cs typeface="Arial" panose="020B0604020202020204" pitchFamily="34" charset="0"/>
              </a:rPr>
              <a:t>:</a:t>
            </a:r>
          </a:p>
          <a:p>
            <a:pPr algn="just">
              <a:buFont typeface="Wingdings" panose="05000000000000000000" pitchFamily="2" charset="2"/>
              <a:buChar char="q"/>
            </a:pPr>
            <a:r>
              <a:rPr lang="en-US" sz="1600" dirty="0">
                <a:highlight>
                  <a:srgbClr val="FFFFFF"/>
                </a:highlight>
                <a:latin typeface="Arial" panose="020B0604020202020204" pitchFamily="34" charset="0"/>
                <a:ea typeface="Roboto"/>
                <a:cs typeface="Arial" panose="020B0604020202020204" pitchFamily="34" charset="0"/>
              </a:rPr>
              <a:t> Before the retrieval model can search through the data, it's typically divided into manageable "chunks" or segments</a:t>
            </a:r>
          </a:p>
          <a:p>
            <a:pPr marL="0" indent="0" algn="just">
              <a:buNone/>
            </a:pPr>
            <a:endParaRPr lang="en-US" sz="1600" dirty="0">
              <a:solidFill>
                <a:srgbClr val="333333"/>
              </a:solidFill>
              <a:latin typeface="Arial" panose="020B0604020202020204" pitchFamily="34" charset="0"/>
              <a:cs typeface="Arial" panose="020B0604020202020204" pitchFamily="34" charset="0"/>
            </a:endParaRPr>
          </a:p>
          <a:p>
            <a:pPr algn="just">
              <a:buNone/>
            </a:pPr>
            <a:r>
              <a:rPr lang="en-US" sz="1600" b="1" dirty="0">
                <a:solidFill>
                  <a:srgbClr val="232F3E"/>
                </a:solidFill>
                <a:latin typeface="Arial" panose="020B0604020202020204" pitchFamily="34" charset="0"/>
                <a:cs typeface="Arial" panose="020B0604020202020204" pitchFamily="34" charset="0"/>
              </a:rPr>
              <a:t>Vector embeddings</a:t>
            </a:r>
            <a:endParaRPr lang="en-US" sz="1600" b="1" dirty="0">
              <a:latin typeface="Arial" panose="020B0604020202020204" pitchFamily="34" charset="0"/>
              <a:cs typeface="Arial" panose="020B0604020202020204" pitchFamily="34" charset="0"/>
            </a:endParaRPr>
          </a:p>
          <a:p>
            <a:pPr algn="just">
              <a:buFont typeface="Wingdings" panose="05000000000000000000" pitchFamily="2" charset="2"/>
              <a:buChar char="q"/>
            </a:pPr>
            <a:r>
              <a:rPr lang="en-US" sz="1600" dirty="0">
                <a:solidFill>
                  <a:srgbClr val="333333"/>
                </a:solidFill>
                <a:highlight>
                  <a:srgbClr val="FFFFFF"/>
                </a:highlight>
                <a:latin typeface="Arial" panose="020B0604020202020204" pitchFamily="34" charset="0"/>
                <a:ea typeface="Roboto"/>
                <a:cs typeface="Arial" panose="020B0604020202020204" pitchFamily="34" charset="0"/>
              </a:rPr>
              <a:t>ML models cannot interpret information intelligibly in their raw format and require numerical data as input. They use neural network embeddings to convert real-word information into numerical representations called vectors.</a:t>
            </a:r>
          </a:p>
          <a:p>
            <a:pPr algn="just">
              <a:buFont typeface="Wingdings" panose="05000000000000000000" pitchFamily="2" charset="2"/>
              <a:buChar char="q"/>
            </a:pPr>
            <a:r>
              <a:rPr lang="en-US" sz="1600" dirty="0">
                <a:solidFill>
                  <a:schemeClr val="tx1"/>
                </a:solidFill>
                <a:highlight>
                  <a:srgbClr val="FFFFFF"/>
                </a:highlight>
                <a:latin typeface="Arial" panose="020B0604020202020204" pitchFamily="34" charset="0"/>
                <a:ea typeface="Roboto"/>
                <a:cs typeface="Arial" panose="020B0604020202020204" pitchFamily="34" charset="0"/>
              </a:rPr>
              <a:t>Vectors are numerical values that represent information in a multi-dimensional space</a:t>
            </a:r>
          </a:p>
          <a:p>
            <a:pPr marL="0" indent="0" algn="just">
              <a:buNone/>
            </a:pPr>
            <a:endParaRPr lang="en-US" sz="1600"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None/>
            </a:pPr>
            <a:endParaRPr lang="en-US" sz="1600" dirty="0">
              <a:latin typeface="Arial" panose="020B0604020202020204" pitchFamily="34" charset="0"/>
              <a:cs typeface="Arial" panose="020B0604020202020204" pitchFamily="34" charset="0"/>
            </a:endParaRPr>
          </a:p>
          <a:p>
            <a:pPr marL="114300" indent="0" algn="just">
              <a:buNone/>
            </a:pPr>
            <a:endParaRPr lang="en-US" sz="1600" dirty="0">
              <a:solidFill>
                <a:schemeClr val="tx1"/>
              </a:solidFill>
              <a:highlight>
                <a:srgbClr val="FFFFFF"/>
              </a:highlight>
              <a:latin typeface="Arial" panose="020B0604020202020204" pitchFamily="34" charset="0"/>
              <a:ea typeface="Roboto"/>
              <a:cs typeface="Arial" panose="020B0604020202020204" pitchFamily="34" charset="0"/>
            </a:endParaRPr>
          </a:p>
          <a:p>
            <a:pPr algn="just">
              <a:buClr>
                <a:srgbClr val="D6001C"/>
              </a:buClr>
            </a:pPr>
            <a:endParaRPr lang="en-US" sz="1600" dirty="0">
              <a:solidFill>
                <a:schemeClr val="tx1"/>
              </a:solidFill>
              <a:highlight>
                <a:srgbClr val="FFFFFF"/>
              </a:highlight>
              <a:ea typeface="Roboto"/>
            </a:endParaRPr>
          </a:p>
          <a:p>
            <a:pPr marL="0" indent="0" algn="just">
              <a:buClr>
                <a:srgbClr val="D6001C"/>
              </a:buClr>
              <a:buNone/>
            </a:pPr>
            <a:endParaRPr lang="en-US" sz="1600"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dirty="0">
              <a:solidFill>
                <a:schemeClr val="tx1"/>
              </a:solidFill>
              <a:highlight>
                <a:srgbClr val="FFFFFF"/>
              </a:highlight>
              <a:latin typeface="Arial" panose="020B0604020202020204" pitchFamily="34" charset="0"/>
              <a:ea typeface="Roboto"/>
              <a:cs typeface="Arial" panose="020B0604020202020204" pitchFamily="34" charset="0"/>
            </a:endParaRPr>
          </a:p>
          <a:p>
            <a:pPr marL="139700" indent="0" algn="just">
              <a:lnSpc>
                <a:spcPct val="115000"/>
              </a:lnSpc>
              <a:spcBef>
                <a:spcPts val="0"/>
              </a:spcBef>
              <a:buClr>
                <a:schemeClr val="dk1"/>
              </a:buClr>
              <a:buSzPts val="1400"/>
              <a:buNone/>
            </a:pPr>
            <a:endParaRPr lang="en-US" sz="1400" dirty="0">
              <a:solidFill>
                <a:srgbClr val="222222"/>
              </a:solidFill>
              <a:highlight>
                <a:srgbClr val="FFFFFF"/>
              </a:highlight>
            </a:endParaRPr>
          </a:p>
          <a:p>
            <a:pPr marL="425450" indent="-285750" algn="just">
              <a:lnSpc>
                <a:spcPct val="114999"/>
              </a:lnSpc>
              <a:spcBef>
                <a:spcPts val="0"/>
              </a:spcBef>
              <a:buClr>
                <a:schemeClr val="dk1"/>
              </a:buClr>
              <a:buSzPts val="1400"/>
              <a:buFont typeface="Arial"/>
              <a:buChar char="•"/>
            </a:pPr>
            <a:endParaRPr lang="en-US" sz="1400" dirty="0">
              <a:solidFill>
                <a:srgbClr val="222222"/>
              </a:solidFill>
              <a:highlight>
                <a:srgbClr val="FFFFFF"/>
              </a:highlight>
            </a:endParaRPr>
          </a:p>
          <a:p>
            <a:pPr marL="139700" indent="0" algn="just">
              <a:lnSpc>
                <a:spcPct val="114999"/>
              </a:lnSpc>
              <a:spcBef>
                <a:spcPts val="0"/>
              </a:spcBef>
              <a:buClr>
                <a:schemeClr val="dk1"/>
              </a:buClr>
              <a:buSzPts val="1400"/>
              <a:buNone/>
            </a:pPr>
            <a:endParaRPr lang="en-US" sz="1400" dirty="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400" dirty="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200" dirty="0">
              <a:solidFill>
                <a:srgbClr val="222222"/>
              </a:solidFill>
              <a:highlight>
                <a:srgbClr val="FFFFFF"/>
              </a:highlight>
            </a:endParaRPr>
          </a:p>
          <a:p>
            <a:pPr indent="-317500" algn="just">
              <a:lnSpc>
                <a:spcPct val="115000"/>
              </a:lnSpc>
              <a:spcBef>
                <a:spcPts val="0"/>
              </a:spcBef>
              <a:buClr>
                <a:srgbClr val="28292B"/>
              </a:buClr>
              <a:buSzPts val="1400"/>
              <a:buFont typeface="Arial"/>
              <a:buChar char="•"/>
            </a:pPr>
            <a:endParaRPr lang="en-US" sz="1400" dirty="0">
              <a:solidFill>
                <a:srgbClr val="28292B"/>
              </a:solidFill>
              <a:highlight>
                <a:srgbClr val="FFFFFF"/>
              </a:highlight>
            </a:endParaRPr>
          </a:p>
          <a:p>
            <a:pPr indent="-114300">
              <a:spcBef>
                <a:spcPts val="0"/>
              </a:spcBef>
              <a:buFont typeface="Arial" panose="020B0604020202020204" pitchFamily="34" charset="0"/>
              <a:buNone/>
            </a:pPr>
            <a:endParaRPr lang="en-US" dirty="0"/>
          </a:p>
        </p:txBody>
      </p:sp>
      <p:pic>
        <p:nvPicPr>
          <p:cNvPr id="5" name="Picture 4">
            <a:extLst>
              <a:ext uri="{FF2B5EF4-FFF2-40B4-BE49-F238E27FC236}">
                <a16:creationId xmlns:a16="http://schemas.microsoft.com/office/drawing/2014/main" id="{0DF8236C-20ED-B2BB-0DD6-BF149A22A2C6}"/>
              </a:ext>
            </a:extLst>
          </p:cNvPr>
          <p:cNvPicPr>
            <a:picLocks noChangeAspect="1"/>
          </p:cNvPicPr>
          <p:nvPr/>
        </p:nvPicPr>
        <p:blipFill>
          <a:blip r:embed="rId2"/>
          <a:stretch>
            <a:fillRect/>
          </a:stretch>
        </p:blipFill>
        <p:spPr>
          <a:xfrm>
            <a:off x="6096000" y="3092995"/>
            <a:ext cx="5659121" cy="3525519"/>
          </a:xfrm>
          <a:prstGeom prst="rect">
            <a:avLst/>
          </a:prstGeom>
        </p:spPr>
      </p:pic>
      <p:pic>
        <p:nvPicPr>
          <p:cNvPr id="1026" name="Picture 2">
            <a:extLst>
              <a:ext uri="{FF2B5EF4-FFF2-40B4-BE49-F238E27FC236}">
                <a16:creationId xmlns:a16="http://schemas.microsoft.com/office/drawing/2014/main" id="{77BF3B86-393D-5D3C-9A22-CE556B592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1351" y="591521"/>
            <a:ext cx="5693770" cy="2352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564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Components</a:t>
            </a:r>
          </a:p>
        </p:txBody>
      </p:sp>
      <p:sp>
        <p:nvSpPr>
          <p:cNvPr id="3" name="Google Shape;337;g27476ab32b1_0_16">
            <a:extLst>
              <a:ext uri="{FF2B5EF4-FFF2-40B4-BE49-F238E27FC236}">
                <a16:creationId xmlns:a16="http://schemas.microsoft.com/office/drawing/2014/main" id="{7C677D16-8A71-2F6D-DD8B-AF68F58EDAFB}"/>
              </a:ext>
            </a:extLst>
          </p:cNvPr>
          <p:cNvSpPr txBox="1">
            <a:spLocks/>
          </p:cNvSpPr>
          <p:nvPr/>
        </p:nvSpPr>
        <p:spPr>
          <a:xfrm>
            <a:off x="6839134" y="284480"/>
            <a:ext cx="4890067" cy="6138198"/>
          </a:xfrm>
          <a:prstGeom prst="rect">
            <a:avLst/>
          </a:prstGeom>
          <a:noFill/>
          <a:ln>
            <a:noFill/>
          </a:ln>
        </p:spPr>
        <p:txBody>
          <a:bodyPr spcFirstLastPara="1" wrap="square" lIns="91425" tIns="45700" rIns="91425" bIns="4570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14300">
              <a:spcBef>
                <a:spcPts val="0"/>
              </a:spcBef>
              <a:buFont typeface="Arial" panose="020B0604020202020204" pitchFamily="34" charset="0"/>
              <a:buNone/>
            </a:pPr>
            <a:endParaRPr lang="en-US" sz="1400" dirty="0">
              <a:solidFill>
                <a:schemeClr val="dk1"/>
              </a:solidFill>
              <a:highlight>
                <a:srgbClr val="FFFFFF"/>
              </a:highlight>
            </a:endParaRPr>
          </a:p>
          <a:p>
            <a:pPr algn="just">
              <a:buNone/>
            </a:pPr>
            <a:r>
              <a:rPr lang="en-US" sz="1600" b="1" dirty="0">
                <a:solidFill>
                  <a:srgbClr val="232F3E"/>
                </a:solidFill>
                <a:latin typeface="Arial" panose="020B0604020202020204" pitchFamily="34" charset="0"/>
                <a:ea typeface="Roboto"/>
                <a:cs typeface="Arial" panose="020B0604020202020204" pitchFamily="34" charset="0"/>
              </a:rPr>
              <a:t>Knowledge base</a:t>
            </a:r>
          </a:p>
          <a:p>
            <a:pPr marL="139700" indent="0" algn="just">
              <a:lnSpc>
                <a:spcPct val="114999"/>
              </a:lnSpc>
              <a:spcBef>
                <a:spcPts val="0"/>
              </a:spcBef>
              <a:buClr>
                <a:schemeClr val="dk1"/>
              </a:buClr>
              <a:buSzPts val="1400"/>
              <a:buNone/>
            </a:pPr>
            <a:endParaRPr lang="en-US" sz="1400" dirty="0">
              <a:solidFill>
                <a:srgbClr val="222222"/>
              </a:solidFill>
              <a:highlight>
                <a:srgbClr val="FFFFFF"/>
              </a:highlight>
            </a:endParaRPr>
          </a:p>
          <a:p>
            <a:pPr marL="139700" indent="0" algn="just">
              <a:lnSpc>
                <a:spcPct val="114999"/>
              </a:lnSpc>
              <a:spcBef>
                <a:spcPts val="0"/>
              </a:spcBef>
              <a:buClr>
                <a:schemeClr val="dk1"/>
              </a:buClr>
              <a:buSzPts val="1400"/>
              <a:buNone/>
            </a:pPr>
            <a:endParaRPr lang="en-US" sz="1400" dirty="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400" dirty="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200" dirty="0">
              <a:solidFill>
                <a:srgbClr val="222222"/>
              </a:solidFill>
              <a:highlight>
                <a:srgbClr val="FFFFFF"/>
              </a:highlight>
            </a:endParaRPr>
          </a:p>
          <a:p>
            <a:pPr indent="-317500" algn="just">
              <a:lnSpc>
                <a:spcPct val="115000"/>
              </a:lnSpc>
              <a:spcBef>
                <a:spcPts val="0"/>
              </a:spcBef>
              <a:buClr>
                <a:srgbClr val="28292B"/>
              </a:buClr>
              <a:buSzPts val="1400"/>
              <a:buFont typeface="Arial"/>
              <a:buChar char="•"/>
            </a:pPr>
            <a:endParaRPr lang="en-US" sz="1400" dirty="0">
              <a:solidFill>
                <a:srgbClr val="28292B"/>
              </a:solidFill>
              <a:highlight>
                <a:srgbClr val="FFFFFF"/>
              </a:highlight>
            </a:endParaRPr>
          </a:p>
          <a:p>
            <a:pPr indent="-114300">
              <a:spcBef>
                <a:spcPts val="0"/>
              </a:spcBef>
              <a:buFont typeface="Arial" panose="020B0604020202020204" pitchFamily="34" charset="0"/>
              <a:buNone/>
            </a:pPr>
            <a:endParaRPr lang="en-US" dirty="0"/>
          </a:p>
        </p:txBody>
      </p:sp>
      <p:pic>
        <p:nvPicPr>
          <p:cNvPr id="3074" name="Picture 2" descr="Vector Database vs Graph Database">
            <a:extLst>
              <a:ext uri="{FF2B5EF4-FFF2-40B4-BE49-F238E27FC236}">
                <a16:creationId xmlns:a16="http://schemas.microsoft.com/office/drawing/2014/main" id="{25854D60-CE3C-8A91-9AD7-816CA2F16E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93041" y="1022744"/>
            <a:ext cx="4836160" cy="5285378"/>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337;g27476ab32b1_0_16">
            <a:extLst>
              <a:ext uri="{FF2B5EF4-FFF2-40B4-BE49-F238E27FC236}">
                <a16:creationId xmlns:a16="http://schemas.microsoft.com/office/drawing/2014/main" id="{002443A6-B506-E874-AFCD-CAE9F49EF40B}"/>
              </a:ext>
            </a:extLst>
          </p:cNvPr>
          <p:cNvSpPr txBox="1">
            <a:spLocks/>
          </p:cNvSpPr>
          <p:nvPr/>
        </p:nvSpPr>
        <p:spPr>
          <a:xfrm>
            <a:off x="670170" y="1117600"/>
            <a:ext cx="6004950" cy="557784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None/>
            </a:pPr>
            <a:r>
              <a:rPr lang="en-US" sz="1600" b="1" dirty="0">
                <a:solidFill>
                  <a:srgbClr val="232F3E"/>
                </a:solidFill>
                <a:latin typeface="Arial" panose="020B0604020202020204" pitchFamily="34" charset="0"/>
                <a:cs typeface="Arial" panose="020B0604020202020204" pitchFamily="34" charset="0"/>
              </a:rPr>
              <a:t>Vector DB</a:t>
            </a:r>
            <a:endParaRPr lang="en-US" sz="1600" b="1" dirty="0">
              <a:solidFill>
                <a:srgbClr val="232F3E"/>
              </a:solidFill>
              <a:latin typeface="Arial" panose="020B0604020202020204" pitchFamily="34" charset="0"/>
              <a:ea typeface="Roboto"/>
              <a:cs typeface="Arial" panose="020B0604020202020204" pitchFamily="34" charset="0"/>
            </a:endParaRPr>
          </a:p>
          <a:p>
            <a:pPr algn="just">
              <a:buClr>
                <a:schemeClr val="tx1"/>
              </a:buClr>
              <a:buFont typeface="Wingdings" panose="05000000000000000000" pitchFamily="2" charset="2"/>
              <a:buChar char="q"/>
            </a:pPr>
            <a:r>
              <a:rPr lang="en-US" sz="1600" dirty="0">
                <a:highlight>
                  <a:srgbClr val="FFFFFF"/>
                </a:highlight>
                <a:latin typeface="Arial" panose="020B0604020202020204" pitchFamily="34" charset="0"/>
                <a:ea typeface="Roboto"/>
                <a:cs typeface="Arial" panose="020B0604020202020204" pitchFamily="34" charset="0"/>
              </a:rPr>
              <a:t>Vector DB is a database that stores embeddings of words, phrases, or documents along with their corresponding identifiers.</a:t>
            </a:r>
          </a:p>
          <a:p>
            <a:pPr algn="just">
              <a:buClr>
                <a:schemeClr val="tx1"/>
              </a:buClr>
              <a:buFont typeface="Wingdings" panose="05000000000000000000" pitchFamily="2" charset="2"/>
              <a:buChar char="q"/>
            </a:pPr>
            <a:r>
              <a:rPr lang="en-US" sz="1600" dirty="0">
                <a:highlight>
                  <a:srgbClr val="FFFFFF"/>
                </a:highlight>
                <a:latin typeface="Arial" panose="020B0604020202020204" pitchFamily="34" charset="0"/>
                <a:ea typeface="Roboto"/>
                <a:cs typeface="Arial" panose="020B0604020202020204" pitchFamily="34" charset="0"/>
              </a:rPr>
              <a:t>It allows for fast and scalable retrieval of similar items based on their vector representations.</a:t>
            </a:r>
            <a:endParaRPr lang="en-US" sz="1600" dirty="0">
              <a:latin typeface="Arial" panose="020B0604020202020204" pitchFamily="34" charset="0"/>
              <a:cs typeface="Arial" panose="020B0604020202020204" pitchFamily="34" charset="0"/>
            </a:endParaRPr>
          </a:p>
          <a:p>
            <a:pPr algn="just">
              <a:buFont typeface="Wingdings" panose="05000000000000000000" pitchFamily="2" charset="2"/>
              <a:buChar char="q"/>
            </a:pPr>
            <a:r>
              <a:rPr lang="en-US" sz="1600" dirty="0">
                <a:solidFill>
                  <a:srgbClr val="1A1A30"/>
                </a:solidFill>
                <a:highlight>
                  <a:srgbClr val="FFFFFF"/>
                </a:highlight>
                <a:latin typeface="Arial" panose="020B0604020202020204" pitchFamily="34" charset="0"/>
                <a:ea typeface="Roboto"/>
                <a:cs typeface="Arial" panose="020B0604020202020204" pitchFamily="34" charset="0"/>
              </a:rPr>
              <a:t>Vector	DB Examples : Chroma, Pinecone, </a:t>
            </a:r>
            <a:r>
              <a:rPr lang="en-US" sz="1600" dirty="0" err="1">
                <a:solidFill>
                  <a:srgbClr val="1A1A30"/>
                </a:solidFill>
                <a:highlight>
                  <a:srgbClr val="FFFFFF"/>
                </a:highlight>
                <a:latin typeface="Arial" panose="020B0604020202020204" pitchFamily="34" charset="0"/>
                <a:ea typeface="Roboto"/>
                <a:cs typeface="Arial" panose="020B0604020202020204" pitchFamily="34" charset="0"/>
              </a:rPr>
              <a:t>Weaviate</a:t>
            </a:r>
            <a:r>
              <a:rPr lang="en-US" sz="1600" dirty="0">
                <a:solidFill>
                  <a:srgbClr val="1A1A30"/>
                </a:solidFill>
                <a:highlight>
                  <a:srgbClr val="FFFFFF"/>
                </a:highlight>
                <a:latin typeface="Arial" panose="020B0604020202020204" pitchFamily="34" charset="0"/>
                <a:ea typeface="Roboto"/>
                <a:cs typeface="Arial" panose="020B0604020202020204" pitchFamily="34" charset="0"/>
              </a:rPr>
              <a:t>, Elasticsearch</a:t>
            </a:r>
          </a:p>
          <a:p>
            <a:pPr marL="0" indent="0" algn="just">
              <a:buNone/>
            </a:pPr>
            <a:r>
              <a:rPr lang="en-US" sz="1600" b="1" dirty="0">
                <a:solidFill>
                  <a:srgbClr val="1A1A30"/>
                </a:solidFill>
                <a:highlight>
                  <a:srgbClr val="FFFFFF"/>
                </a:highlight>
                <a:latin typeface="Arial" panose="020B0604020202020204" pitchFamily="34" charset="0"/>
                <a:ea typeface="Roboto"/>
                <a:cs typeface="Arial" panose="020B0604020202020204" pitchFamily="34" charset="0"/>
              </a:rPr>
              <a:t>Knowledge graph (KG)</a:t>
            </a:r>
          </a:p>
          <a:p>
            <a:pPr marL="425450" indent="-285750" algn="just">
              <a:lnSpc>
                <a:spcPct val="114999"/>
              </a:lnSpc>
              <a:spcBef>
                <a:spcPts val="0"/>
              </a:spcBef>
              <a:buClr>
                <a:schemeClr val="dk1"/>
              </a:buClr>
              <a:buSzPts val="1400"/>
              <a:buFont typeface="Wingdings" panose="05000000000000000000" pitchFamily="2" charset="2"/>
              <a:buChar char="q"/>
            </a:pPr>
            <a:r>
              <a:rPr lang="en-US" sz="1600" b="0" i="0" dirty="0">
                <a:solidFill>
                  <a:srgbClr val="000000"/>
                </a:solidFill>
                <a:effectLst/>
                <a:latin typeface="Arial" panose="020B0604020202020204" pitchFamily="34" charset="0"/>
                <a:cs typeface="Arial" panose="020B0604020202020204" pitchFamily="34" charset="0"/>
              </a:rPr>
              <a:t>Employ graph structures for data storage and querying, enabling efficient navigation through relationships.</a:t>
            </a:r>
          </a:p>
          <a:p>
            <a:pPr marL="425450" indent="-285750" algn="just">
              <a:lnSpc>
                <a:spcPct val="114999"/>
              </a:lnSpc>
              <a:spcBef>
                <a:spcPts val="0"/>
              </a:spcBef>
              <a:buClr>
                <a:schemeClr val="dk1"/>
              </a:buClr>
              <a:buSzPts val="1400"/>
              <a:buFont typeface="Wingdings" panose="05000000000000000000" pitchFamily="2" charset="2"/>
              <a:buChar char="q"/>
            </a:pPr>
            <a:r>
              <a:rPr lang="en-US" sz="1600" b="0" i="0" dirty="0">
                <a:solidFill>
                  <a:srgbClr val="000000"/>
                </a:solidFill>
                <a:effectLst/>
                <a:latin typeface="Arial" panose="020B0604020202020204" pitchFamily="34" charset="0"/>
                <a:cs typeface="Arial" panose="020B0604020202020204" pitchFamily="34" charset="0"/>
              </a:rPr>
              <a:t>Focus on representing and structuring relationships between entities.</a:t>
            </a:r>
          </a:p>
          <a:p>
            <a:pPr marL="425450" indent="-285750" algn="just">
              <a:lnSpc>
                <a:spcPct val="114999"/>
              </a:lnSpc>
              <a:spcBef>
                <a:spcPts val="0"/>
              </a:spcBef>
              <a:buClr>
                <a:schemeClr val="dk1"/>
              </a:buClr>
              <a:buSzPts val="1400"/>
              <a:buFont typeface="Wingdings" panose="05000000000000000000" pitchFamily="2" charset="2"/>
              <a:buChar char="q"/>
            </a:pPr>
            <a:r>
              <a:rPr lang="en-US" sz="1600" dirty="0">
                <a:solidFill>
                  <a:srgbClr val="000000"/>
                </a:solidFill>
                <a:latin typeface="Arial" panose="020B0604020202020204" pitchFamily="34" charset="0"/>
                <a:cs typeface="Arial" panose="020B0604020202020204" pitchFamily="34" charset="0"/>
              </a:rPr>
              <a:t>KG	examples:</a:t>
            </a:r>
            <a:r>
              <a:rPr lang="en-IN" sz="1600" b="0" i="0" dirty="0" err="1">
                <a:solidFill>
                  <a:srgbClr val="161616"/>
                </a:solidFill>
                <a:effectLst/>
                <a:highlight>
                  <a:srgbClr val="FFFFFF"/>
                </a:highlight>
                <a:latin typeface="Arial" panose="020B0604020202020204" pitchFamily="34" charset="0"/>
                <a:cs typeface="Arial" panose="020B0604020202020204" pitchFamily="34" charset="0"/>
              </a:rPr>
              <a:t>GoogleKnowledgeGraph,DBPedia</a:t>
            </a:r>
            <a:r>
              <a:rPr lang="en-IN" sz="1600" b="0" i="0" dirty="0">
                <a:solidFill>
                  <a:srgbClr val="161616"/>
                </a:solidFill>
                <a:effectLst/>
                <a:highlight>
                  <a:srgbClr val="FFFFFF"/>
                </a:highlight>
                <a:latin typeface="Arial" panose="020B0604020202020204" pitchFamily="34" charset="0"/>
                <a:cs typeface="Arial" panose="020B0604020202020204" pitchFamily="34" charset="0"/>
              </a:rPr>
              <a:t> ,</a:t>
            </a:r>
            <a:r>
              <a:rPr lang="en-IN" sz="1600" b="0" i="0" dirty="0" err="1">
                <a:solidFill>
                  <a:srgbClr val="161616"/>
                </a:solidFill>
                <a:effectLst/>
                <a:highlight>
                  <a:srgbClr val="FFFFFF"/>
                </a:highlight>
                <a:latin typeface="Arial" panose="020B0604020202020204" pitchFamily="34" charset="0"/>
                <a:cs typeface="Arial" panose="020B0604020202020204" pitchFamily="34" charset="0"/>
              </a:rPr>
              <a:t>Wikidata</a:t>
            </a:r>
            <a:r>
              <a:rPr lang="en-IN" sz="1600" b="0" i="0" dirty="0">
                <a:solidFill>
                  <a:srgbClr val="161616"/>
                </a:solidFill>
                <a:effectLst/>
                <a:highlight>
                  <a:srgbClr val="FFFFFF"/>
                </a:highlight>
                <a:latin typeface="Arial" panose="020B0604020202020204" pitchFamily="34" charset="0"/>
                <a:cs typeface="Arial" panose="020B0604020202020204" pitchFamily="34" charset="0"/>
              </a:rPr>
              <a:t> </a:t>
            </a:r>
            <a:endParaRPr lang="en-US" sz="1600" b="0" i="0" dirty="0">
              <a:solidFill>
                <a:srgbClr val="000000"/>
              </a:solidFill>
              <a:effectLs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b="0" i="0" dirty="0">
              <a:solidFill>
                <a:srgbClr val="000000"/>
              </a:solidFill>
              <a:effectLs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r>
              <a:rPr lang="en-US" sz="1600" dirty="0">
                <a:solidFill>
                  <a:srgbClr val="000000"/>
                </a:solidFill>
                <a:latin typeface="Arial" panose="020B0604020202020204" pitchFamily="34" charset="0"/>
                <a:cs typeface="Arial" panose="020B0604020202020204" pitchFamily="34" charset="0"/>
              </a:rPr>
              <a:t>V</a:t>
            </a:r>
            <a:r>
              <a:rPr lang="en-US" sz="1600" b="0" i="0" dirty="0">
                <a:solidFill>
                  <a:srgbClr val="000000"/>
                </a:solidFill>
                <a:effectLst/>
                <a:latin typeface="Arial" panose="020B0604020202020204" pitchFamily="34" charset="0"/>
                <a:cs typeface="Arial" panose="020B0604020202020204" pitchFamily="34" charset="0"/>
              </a:rPr>
              <a:t>ector databases excel at managing high-dimensional data and conducting similarity searches, while Graph databases are good  at managing intricate relationships between entities.</a:t>
            </a:r>
          </a:p>
          <a:p>
            <a:pPr marL="139700" indent="0" algn="just">
              <a:lnSpc>
                <a:spcPct val="114999"/>
              </a:lnSpc>
              <a:spcBef>
                <a:spcPts val="0"/>
              </a:spcBef>
              <a:buClr>
                <a:schemeClr val="dk1"/>
              </a:buClr>
              <a:buSzPts val="1400"/>
              <a:buNone/>
            </a:pPr>
            <a:endParaRPr lang="en-US" sz="1400" dirty="0">
              <a:solidFill>
                <a:srgbClr val="222222"/>
              </a:solidFill>
              <a:highlight>
                <a:srgbClr val="FFFFFF"/>
              </a:highlight>
            </a:endParaRPr>
          </a:p>
          <a:p>
            <a:pPr marL="139700" indent="0" algn="just">
              <a:lnSpc>
                <a:spcPct val="114999"/>
              </a:lnSpc>
              <a:spcBef>
                <a:spcPts val="0"/>
              </a:spcBef>
              <a:buClr>
                <a:schemeClr val="dk1"/>
              </a:buClr>
              <a:buSzPts val="1400"/>
              <a:buNone/>
            </a:pPr>
            <a:endParaRPr lang="en-US" sz="1400" dirty="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400" dirty="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200" dirty="0">
              <a:solidFill>
                <a:srgbClr val="222222"/>
              </a:solidFill>
              <a:highlight>
                <a:srgbClr val="FFFFFF"/>
              </a:highlight>
            </a:endParaRPr>
          </a:p>
          <a:p>
            <a:pPr indent="-317500" algn="just">
              <a:lnSpc>
                <a:spcPct val="115000"/>
              </a:lnSpc>
              <a:spcBef>
                <a:spcPts val="0"/>
              </a:spcBef>
              <a:buClr>
                <a:srgbClr val="28292B"/>
              </a:buClr>
              <a:buSzPts val="1400"/>
              <a:buFont typeface="Arial"/>
              <a:buChar char="•"/>
            </a:pPr>
            <a:endParaRPr lang="en-US" sz="1400" dirty="0">
              <a:solidFill>
                <a:srgbClr val="28292B"/>
              </a:solidFill>
              <a:highlight>
                <a:srgbClr val="FFFFFF"/>
              </a:highlight>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indent="-114300">
              <a:spcBef>
                <a:spcPts val="0"/>
              </a:spcBef>
              <a:buFont typeface="Arial" panose="020B0604020202020204" pitchFamily="34" charset="0"/>
              <a:buNone/>
            </a:pPr>
            <a:endParaRPr lang="en-US" sz="1600" dirty="0">
              <a:solidFill>
                <a:schemeClr val="dk1"/>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5000"/>
              </a:lnSpc>
              <a:spcBef>
                <a:spcPts val="0"/>
              </a:spcBef>
              <a:buClr>
                <a:srgbClr val="28292B"/>
              </a:buClr>
              <a:buSzPts val="1400"/>
              <a:buFont typeface="Arial"/>
              <a:buChar char="•"/>
            </a:pPr>
            <a:endParaRPr lang="en-US" sz="1600" dirty="0">
              <a:solidFill>
                <a:srgbClr val="28292B"/>
              </a:solidFill>
              <a:highlight>
                <a:srgbClr val="FFFFFF"/>
              </a:highlight>
              <a:latin typeface="Arial" panose="020B0604020202020204" pitchFamily="34" charset="0"/>
              <a:cs typeface="Arial" panose="020B0604020202020204" pitchFamily="34" charset="0"/>
            </a:endParaRPr>
          </a:p>
          <a:p>
            <a:pPr indent="-114300">
              <a:spcBef>
                <a:spcPts val="0"/>
              </a:spcBef>
              <a:buFont typeface="Arial" panose="020B0604020202020204" pitchFamily="34" charset="0"/>
              <a:buNone/>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4049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Components</a:t>
            </a:r>
          </a:p>
        </p:txBody>
      </p:sp>
      <p:sp>
        <p:nvSpPr>
          <p:cNvPr id="6" name="Google Shape;337;g27476ab32b1_0_16">
            <a:extLst>
              <a:ext uri="{FF2B5EF4-FFF2-40B4-BE49-F238E27FC236}">
                <a16:creationId xmlns:a16="http://schemas.microsoft.com/office/drawing/2014/main" id="{D31E14A7-B660-050F-7331-EAE915624D66}"/>
              </a:ext>
            </a:extLst>
          </p:cNvPr>
          <p:cNvSpPr txBox="1">
            <a:spLocks/>
          </p:cNvSpPr>
          <p:nvPr/>
        </p:nvSpPr>
        <p:spPr>
          <a:xfrm>
            <a:off x="670170" y="1117600"/>
            <a:ext cx="6004950" cy="5356188"/>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None/>
            </a:pPr>
            <a:r>
              <a:rPr lang="en-US" sz="1600" b="1" dirty="0">
                <a:solidFill>
                  <a:srgbClr val="232F3E"/>
                </a:solidFill>
                <a:highlight>
                  <a:srgbClr val="FFFFFF"/>
                </a:highlight>
                <a:latin typeface="Arial" panose="020B0604020202020204" pitchFamily="34" charset="0"/>
                <a:ea typeface="Roboto"/>
                <a:cs typeface="Arial" panose="020B0604020202020204" pitchFamily="34" charset="0"/>
              </a:rPr>
              <a:t>RAG Retriever</a:t>
            </a:r>
            <a:endParaRPr lang="en-US" sz="1600" dirty="0">
              <a:latin typeface="Arial" panose="020B0604020202020204" pitchFamily="34" charset="0"/>
              <a:cs typeface="Arial" panose="020B0604020202020204" pitchFamily="34" charset="0"/>
            </a:endParaRPr>
          </a:p>
          <a:p>
            <a:pPr algn="just">
              <a:buClr>
                <a:schemeClr val="tx1"/>
              </a:buClr>
              <a:buFont typeface="Wingdings" panose="05000000000000000000" pitchFamily="2" charset="2"/>
              <a:buChar char="q"/>
            </a:pPr>
            <a:r>
              <a:rPr lang="en-US" sz="1600" dirty="0">
                <a:solidFill>
                  <a:schemeClr val="tx1"/>
                </a:solidFill>
                <a:highlight>
                  <a:srgbClr val="FFFFFF"/>
                </a:highlight>
                <a:latin typeface="Arial" panose="020B0604020202020204" pitchFamily="34" charset="0"/>
                <a:ea typeface="Roboto"/>
                <a:cs typeface="Arial" panose="020B0604020202020204" pitchFamily="34" charset="0"/>
              </a:rPr>
              <a:t>The next step is to perform a relevancy search. The user query is converted to a vector representation and matched with the vector databases or knowledge graph</a:t>
            </a:r>
          </a:p>
          <a:p>
            <a:pPr algn="just">
              <a:buClr>
                <a:schemeClr val="tx1"/>
              </a:buClr>
              <a:buFont typeface="Wingdings" panose="05000000000000000000" pitchFamily="2" charset="2"/>
              <a:buChar char="q"/>
            </a:pPr>
            <a:r>
              <a:rPr lang="en-US" sz="1600" dirty="0">
                <a:solidFill>
                  <a:schemeClr val="tx1"/>
                </a:solidFill>
                <a:highlight>
                  <a:srgbClr val="FFFFFF"/>
                </a:highlight>
                <a:latin typeface="Arial" panose="020B0604020202020204" pitchFamily="34" charset="0"/>
                <a:ea typeface="Roboto"/>
                <a:cs typeface="Arial" panose="020B0604020202020204" pitchFamily="34" charset="0"/>
              </a:rPr>
              <a:t>The retriever component is responsible for efficiently identifying and extracting relevant information from a vast amount of data</a:t>
            </a:r>
            <a:endParaRPr lang="en-US" sz="1600" dirty="0">
              <a:solidFill>
                <a:srgbClr val="000000"/>
              </a:solidFill>
              <a:highlight>
                <a:srgbClr val="FDFDFD"/>
              </a:highlight>
              <a:latin typeface="Arial" panose="020B0604020202020204" pitchFamily="34" charset="0"/>
              <a:ea typeface="Roboto"/>
              <a:cs typeface="Arial" panose="020B0604020202020204" pitchFamily="34" charset="0"/>
            </a:endParaRPr>
          </a:p>
          <a:p>
            <a:pPr marL="0" indent="0" algn="just">
              <a:buClr>
                <a:schemeClr val="tx1"/>
              </a:buClr>
              <a:buNone/>
            </a:pPr>
            <a:r>
              <a:rPr lang="en-US" sz="1600" b="1" i="0" dirty="0">
                <a:solidFill>
                  <a:srgbClr val="000000"/>
                </a:solidFill>
                <a:effectLst/>
                <a:highlight>
                  <a:srgbClr val="FDFDFD"/>
                </a:highlight>
                <a:latin typeface="Arial" panose="020B0604020202020204" pitchFamily="34" charset="0"/>
                <a:cs typeface="Arial" panose="020B0604020202020204" pitchFamily="34" charset="0"/>
              </a:rPr>
              <a:t>Retrieval Techniques</a:t>
            </a:r>
          </a:p>
          <a:p>
            <a:pPr algn="just">
              <a:buClr>
                <a:schemeClr val="tx1"/>
              </a:buClr>
              <a:buFont typeface="Wingdings" panose="05000000000000000000" pitchFamily="2" charset="2"/>
              <a:buChar char="q"/>
            </a:pPr>
            <a:r>
              <a:rPr lang="en-US" sz="1600" b="0" i="0" dirty="0">
                <a:solidFill>
                  <a:srgbClr val="000000"/>
                </a:solidFill>
                <a:effectLst/>
                <a:highlight>
                  <a:srgbClr val="FDFDFD"/>
                </a:highlight>
                <a:latin typeface="Arial" panose="020B0604020202020204" pitchFamily="34" charset="0"/>
                <a:cs typeface="Arial" panose="020B0604020202020204" pitchFamily="34" charset="0"/>
              </a:rPr>
              <a:t>sentence window</a:t>
            </a:r>
          </a:p>
          <a:p>
            <a:pPr marL="0" indent="0" algn="just">
              <a:buClr>
                <a:schemeClr val="tx1"/>
              </a:buClr>
              <a:buNone/>
            </a:pPr>
            <a:r>
              <a:rPr lang="en-US" sz="1600" b="0" i="0" dirty="0">
                <a:solidFill>
                  <a:srgbClr val="000000"/>
                </a:solidFill>
                <a:effectLst/>
                <a:highlight>
                  <a:srgbClr val="FDFDFD"/>
                </a:highlight>
                <a:latin typeface="Arial" panose="020B0604020202020204" pitchFamily="34" charset="0"/>
                <a:cs typeface="Arial" panose="020B0604020202020204" pitchFamily="34" charset="0"/>
              </a:rPr>
              <a:t>Retrieves window of sentences around the most relevant sentence, rather than just the sentence itself</a:t>
            </a:r>
          </a:p>
          <a:p>
            <a:pPr algn="just">
              <a:buClr>
                <a:schemeClr val="tx1"/>
              </a:buClr>
              <a:buFont typeface="Wingdings" panose="05000000000000000000" pitchFamily="2" charset="2"/>
              <a:buChar char="q"/>
            </a:pPr>
            <a:r>
              <a:rPr lang="en-US" sz="1600" b="0" i="0" dirty="0">
                <a:solidFill>
                  <a:srgbClr val="000000"/>
                </a:solidFill>
                <a:effectLst/>
                <a:highlight>
                  <a:srgbClr val="FDFDFD"/>
                </a:highlight>
                <a:latin typeface="Arial" panose="020B0604020202020204" pitchFamily="34" charset="0"/>
                <a:cs typeface="Arial" panose="020B0604020202020204" pitchFamily="34" charset="0"/>
              </a:rPr>
              <a:t>auto-merging</a:t>
            </a:r>
          </a:p>
          <a:p>
            <a:pPr marL="114300" indent="0" algn="just">
              <a:buNone/>
            </a:pPr>
            <a:r>
              <a:rPr lang="en-US" sz="1800" dirty="0">
                <a:solidFill>
                  <a:srgbClr val="232F3E"/>
                </a:solidFill>
                <a:highlight>
                  <a:srgbClr val="FFFFFF"/>
                </a:highlight>
                <a:ea typeface="Roboto"/>
              </a:rPr>
              <a:t>Dynamically generates more coherent or ordered text chunks than simpler retrieval methods.</a:t>
            </a:r>
          </a:p>
          <a:p>
            <a:pPr marL="114300" indent="0" algn="just">
              <a:buNone/>
            </a:pPr>
            <a:r>
              <a:rPr lang="en-US" sz="1800" b="1" dirty="0">
                <a:solidFill>
                  <a:srgbClr val="232F3E"/>
                </a:solidFill>
                <a:highlight>
                  <a:srgbClr val="FFFFFF"/>
                </a:highlight>
                <a:ea typeface="Roboto"/>
              </a:rPr>
              <a:t>RAG Ranker</a:t>
            </a:r>
            <a:endParaRPr lang="en-US" sz="1100" dirty="0"/>
          </a:p>
          <a:p>
            <a:pPr algn="just">
              <a:buClr>
                <a:schemeClr val="tx1"/>
              </a:buClr>
              <a:buFont typeface="Wingdings" panose="05000000000000000000" pitchFamily="2" charset="2"/>
              <a:buChar char="q"/>
            </a:pPr>
            <a:r>
              <a:rPr lang="en-US" sz="1600" dirty="0">
                <a:solidFill>
                  <a:schemeClr val="tx1"/>
                </a:solidFill>
                <a:highlight>
                  <a:srgbClr val="FFFFFF"/>
                </a:highlight>
                <a:ea typeface="Roboto"/>
              </a:rPr>
              <a:t>The RAG ranker component refines the retrieved information by assessing its relevance and importance. It assigns scores or ranks to the retrieved data points, helping prioritize the most relevant ones.</a:t>
            </a:r>
          </a:p>
          <a:p>
            <a:pPr marL="0" indent="0" algn="just">
              <a:buClr>
                <a:schemeClr val="tx1"/>
              </a:buClr>
              <a:buNone/>
            </a:pPr>
            <a:endParaRPr lang="en-US" sz="1600" dirty="0">
              <a:solidFill>
                <a:schemeClr val="tx1"/>
              </a:solidFill>
              <a:highlight>
                <a:srgbClr val="FFFFFF"/>
              </a:highlight>
              <a:ea typeface="Roboto"/>
            </a:endParaRPr>
          </a:p>
          <a:p>
            <a:pPr marL="0" indent="0" algn="just">
              <a:buClr>
                <a:schemeClr val="tx1"/>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indent="-114300">
              <a:spcBef>
                <a:spcPts val="0"/>
              </a:spcBef>
              <a:buFont typeface="Arial" panose="020B0604020202020204" pitchFamily="34" charset="0"/>
              <a:buNone/>
            </a:pPr>
            <a:endParaRPr lang="en-US" sz="1600" dirty="0">
              <a:solidFill>
                <a:schemeClr val="dk1"/>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5000"/>
              </a:lnSpc>
              <a:spcBef>
                <a:spcPts val="0"/>
              </a:spcBef>
              <a:buClr>
                <a:srgbClr val="28292B"/>
              </a:buClr>
              <a:buSzPts val="1400"/>
              <a:buFont typeface="Arial"/>
              <a:buChar char="•"/>
            </a:pPr>
            <a:endParaRPr lang="en-US" sz="1600" dirty="0">
              <a:solidFill>
                <a:srgbClr val="28292B"/>
              </a:solidFill>
              <a:highlight>
                <a:srgbClr val="FFFFFF"/>
              </a:highlight>
              <a:latin typeface="Arial" panose="020B0604020202020204" pitchFamily="34" charset="0"/>
              <a:cs typeface="Arial" panose="020B0604020202020204" pitchFamily="34" charset="0"/>
            </a:endParaRPr>
          </a:p>
          <a:p>
            <a:pPr indent="-114300">
              <a:spcBef>
                <a:spcPts val="0"/>
              </a:spcBef>
              <a:buFont typeface="Arial" panose="020B0604020202020204" pitchFamily="34" charset="0"/>
              <a:buNone/>
            </a:pPr>
            <a:endParaRPr lang="en-US" sz="1600" dirty="0">
              <a:latin typeface="Arial" panose="020B0604020202020204" pitchFamily="34" charset="0"/>
              <a:cs typeface="Arial" panose="020B0604020202020204" pitchFamily="34" charset="0"/>
            </a:endParaRPr>
          </a:p>
        </p:txBody>
      </p:sp>
      <p:pic>
        <p:nvPicPr>
          <p:cNvPr id="4" name="Picture 2">
            <a:extLst>
              <a:ext uri="{FF2B5EF4-FFF2-40B4-BE49-F238E27FC236}">
                <a16:creationId xmlns:a16="http://schemas.microsoft.com/office/drawing/2014/main" id="{2E4E8778-B7C1-8A35-FE1A-24B7C6F122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8800" y="294640"/>
            <a:ext cx="4856480" cy="6215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8774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Components</a:t>
            </a:r>
          </a:p>
        </p:txBody>
      </p:sp>
      <p:sp>
        <p:nvSpPr>
          <p:cNvPr id="3" name="Google Shape;337;g27476ab32b1_0_16">
            <a:extLst>
              <a:ext uri="{FF2B5EF4-FFF2-40B4-BE49-F238E27FC236}">
                <a16:creationId xmlns:a16="http://schemas.microsoft.com/office/drawing/2014/main" id="{7C677D16-8A71-2F6D-DD8B-AF68F58EDAFB}"/>
              </a:ext>
            </a:extLst>
          </p:cNvPr>
          <p:cNvSpPr txBox="1">
            <a:spLocks/>
          </p:cNvSpPr>
          <p:nvPr/>
        </p:nvSpPr>
        <p:spPr>
          <a:xfrm>
            <a:off x="670170" y="1097280"/>
            <a:ext cx="11095110" cy="5242560"/>
          </a:xfrm>
          <a:prstGeom prst="rect">
            <a:avLst/>
          </a:prstGeom>
          <a:noFill/>
          <a:ln>
            <a:noFill/>
          </a:ln>
        </p:spPr>
        <p:txBody>
          <a:bodyPr spcFirstLastPara="1" wrap="square" lIns="91425" tIns="45700" rIns="91425" bIns="4570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114300">
              <a:spcBef>
                <a:spcPts val="0"/>
              </a:spcBef>
              <a:buFont typeface="Arial" panose="020B0604020202020204" pitchFamily="34" charset="0"/>
              <a:buNone/>
            </a:pPr>
            <a:endParaRPr lang="en-US" sz="1400" dirty="0">
              <a:solidFill>
                <a:schemeClr val="dk1"/>
              </a:solidFill>
              <a:highlight>
                <a:srgbClr val="FFFFFF"/>
              </a:highlight>
            </a:endParaRPr>
          </a:p>
          <a:p>
            <a:pPr algn="just">
              <a:buNone/>
            </a:pPr>
            <a:r>
              <a:rPr lang="en-US" sz="1600" b="1" dirty="0">
                <a:solidFill>
                  <a:srgbClr val="333333"/>
                </a:solidFill>
                <a:latin typeface="Arial" panose="020B0604020202020204" pitchFamily="34" charset="0"/>
                <a:cs typeface="Arial" panose="020B0604020202020204" pitchFamily="34" charset="0"/>
              </a:rPr>
              <a:t>Augment the LLM prompt</a:t>
            </a:r>
            <a:endParaRPr lang="en-US" sz="1600" b="1" dirty="0">
              <a:solidFill>
                <a:srgbClr val="333333"/>
              </a:solidFill>
              <a:latin typeface="Arial" panose="020B0604020202020204" pitchFamily="34" charset="0"/>
              <a:ea typeface="Roboto"/>
              <a:cs typeface="Arial" panose="020B0604020202020204" pitchFamily="34" charset="0"/>
            </a:endParaRPr>
          </a:p>
          <a:p>
            <a:pPr algn="just">
              <a:buFont typeface="Wingdings" panose="05000000000000000000" pitchFamily="2" charset="2"/>
              <a:buChar char="q"/>
            </a:pPr>
            <a:r>
              <a:rPr lang="en-US" sz="1600" dirty="0">
                <a:solidFill>
                  <a:srgbClr val="333333"/>
                </a:solidFill>
                <a:latin typeface="Arial" panose="020B0604020202020204" pitchFamily="34" charset="0"/>
                <a:ea typeface="Roboto"/>
                <a:cs typeface="Arial" panose="020B0604020202020204" pitchFamily="34" charset="0"/>
              </a:rPr>
              <a:t>Next, the RAG model augments the user input (or prompts) by adding the relevant retrieved data in context. This step </a:t>
            </a:r>
            <a:r>
              <a:rPr lang="en-US" sz="1600" b="1" dirty="0">
                <a:solidFill>
                  <a:srgbClr val="333333"/>
                </a:solidFill>
                <a:latin typeface="Arial" panose="020B0604020202020204" pitchFamily="34" charset="0"/>
                <a:ea typeface="Roboto"/>
                <a:cs typeface="Arial" panose="020B0604020202020204" pitchFamily="34" charset="0"/>
              </a:rPr>
              <a:t>uses prompt engineering techniques </a:t>
            </a:r>
            <a:r>
              <a:rPr lang="en-US" sz="1600" dirty="0">
                <a:solidFill>
                  <a:srgbClr val="333333"/>
                </a:solidFill>
                <a:latin typeface="Arial" panose="020B0604020202020204" pitchFamily="34" charset="0"/>
                <a:ea typeface="Roboto"/>
                <a:cs typeface="Arial" panose="020B0604020202020204" pitchFamily="34" charset="0"/>
              </a:rPr>
              <a:t>to communicate effectively with the LLM.</a:t>
            </a:r>
            <a:endParaRPr lang="en-US" sz="1600" dirty="0">
              <a:solidFill>
                <a:srgbClr val="000000"/>
              </a:solidFill>
              <a:latin typeface="Arial" panose="020B0604020202020204" pitchFamily="34" charset="0"/>
              <a:ea typeface="Roboto"/>
              <a:cs typeface="Arial" panose="020B0604020202020204" pitchFamily="34" charset="0"/>
            </a:endParaRPr>
          </a:p>
          <a:p>
            <a:pPr algn="just">
              <a:buFont typeface="Wingdings" panose="05000000000000000000" pitchFamily="2" charset="2"/>
              <a:buChar char="q"/>
            </a:pPr>
            <a:r>
              <a:rPr lang="en-US" sz="1600" dirty="0">
                <a:solidFill>
                  <a:srgbClr val="333333"/>
                </a:solidFill>
                <a:latin typeface="Arial" panose="020B0604020202020204" pitchFamily="34" charset="0"/>
                <a:ea typeface="Roboto"/>
                <a:cs typeface="Arial" panose="020B0604020202020204" pitchFamily="34" charset="0"/>
              </a:rPr>
              <a:t>The augmented prompt allows the large language models to generate an accurate answer to user queries.</a:t>
            </a:r>
          </a:p>
          <a:p>
            <a:pPr marL="114300" indent="0" algn="just">
              <a:buNone/>
            </a:pPr>
            <a:endParaRPr lang="en-US" sz="1600" dirty="0">
              <a:solidFill>
                <a:srgbClr val="333333"/>
              </a:solidFill>
              <a:highlight>
                <a:srgbClr val="FFFFFF"/>
              </a:highlight>
              <a:latin typeface="Arial" panose="020B0604020202020204" pitchFamily="34" charset="0"/>
              <a:ea typeface="Roboto"/>
              <a:cs typeface="Arial" panose="020B0604020202020204" pitchFamily="34" charset="0"/>
            </a:endParaRPr>
          </a:p>
          <a:p>
            <a:pPr marL="114300" indent="0" algn="just">
              <a:buNone/>
            </a:pPr>
            <a:r>
              <a:rPr lang="en-US" sz="1600" b="1" dirty="0">
                <a:solidFill>
                  <a:srgbClr val="232F3E"/>
                </a:solidFill>
                <a:highlight>
                  <a:srgbClr val="FFFFFF"/>
                </a:highlight>
                <a:latin typeface="Arial" panose="020B0604020202020204" pitchFamily="34" charset="0"/>
                <a:ea typeface="Roboto"/>
                <a:cs typeface="Arial" panose="020B0604020202020204" pitchFamily="34" charset="0"/>
              </a:rPr>
              <a:t>RAG Generator</a:t>
            </a:r>
          </a:p>
          <a:p>
            <a:pPr algn="just">
              <a:buClr>
                <a:schemeClr val="tx1"/>
              </a:buClr>
              <a:buFont typeface="Wingdings" panose="05000000000000000000" pitchFamily="2" charset="2"/>
              <a:buChar char="q"/>
            </a:pPr>
            <a:r>
              <a:rPr lang="en-US" sz="1600" dirty="0">
                <a:solidFill>
                  <a:schemeClr val="tx1"/>
                </a:solidFill>
                <a:highlight>
                  <a:srgbClr val="FFFFFF"/>
                </a:highlight>
                <a:latin typeface="Arial" panose="020B0604020202020204" pitchFamily="34" charset="0"/>
                <a:ea typeface="Roboto"/>
                <a:cs typeface="Arial" panose="020B0604020202020204" pitchFamily="34" charset="0"/>
              </a:rPr>
              <a:t>The RAG generator component is basically the LLM Model such a (GPT)</a:t>
            </a:r>
          </a:p>
          <a:p>
            <a:pPr algn="just">
              <a:buClr>
                <a:schemeClr val="tx1"/>
              </a:buClr>
              <a:buFont typeface="Wingdings" panose="05000000000000000000" pitchFamily="2" charset="2"/>
              <a:buChar char="q"/>
            </a:pPr>
            <a:r>
              <a:rPr lang="en-US" sz="1600" dirty="0">
                <a:solidFill>
                  <a:schemeClr val="tx1"/>
                </a:solidFill>
                <a:highlight>
                  <a:srgbClr val="FFFFFF"/>
                </a:highlight>
                <a:latin typeface="Arial" panose="020B0604020202020204" pitchFamily="34" charset="0"/>
                <a:ea typeface="Roboto"/>
                <a:cs typeface="Arial" panose="020B0604020202020204" pitchFamily="34" charset="0"/>
              </a:rPr>
              <a:t>The RAG generator component is responsible for taking the retrieved and ranked information, along with the user's original query, and generating the final response or output.</a:t>
            </a:r>
          </a:p>
          <a:p>
            <a:pPr algn="just">
              <a:buFont typeface="Wingdings" panose="05000000000000000000" pitchFamily="2" charset="2"/>
              <a:buChar char="q"/>
            </a:pPr>
            <a:r>
              <a:rPr lang="en-US" sz="1600" dirty="0">
                <a:solidFill>
                  <a:schemeClr val="tx1"/>
                </a:solidFill>
                <a:highlight>
                  <a:srgbClr val="FFFFFF"/>
                </a:highlight>
                <a:latin typeface="Arial" panose="020B0604020202020204" pitchFamily="34" charset="0"/>
                <a:ea typeface="Roboto"/>
                <a:cs typeface="Arial" panose="020B0604020202020204" pitchFamily="34" charset="0"/>
              </a:rPr>
              <a:t>The generator ensures that the response aligns with the user's query and incorporates the factual knowledge retrieved from external sources.</a:t>
            </a:r>
          </a:p>
          <a:p>
            <a:pPr marL="0" indent="0" algn="just">
              <a:buNone/>
            </a:pPr>
            <a:endParaRPr lang="en-US" sz="1600"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None/>
            </a:pPr>
            <a:endParaRPr lang="en-US" sz="1600"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dirty="0">
              <a:solidFill>
                <a:schemeClr val="tx1"/>
              </a:solidFill>
              <a:highlight>
                <a:srgbClr val="FFFFFF"/>
              </a:highlight>
              <a:ea typeface="Roboto"/>
            </a:endParaRPr>
          </a:p>
          <a:p>
            <a:pPr marL="0" indent="0" algn="just">
              <a:buClr>
                <a:srgbClr val="D6001C"/>
              </a:buClr>
              <a:buNone/>
            </a:pPr>
            <a:endParaRPr lang="en-US" sz="1600"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dirty="0">
              <a:solidFill>
                <a:schemeClr val="tx1"/>
              </a:solidFill>
              <a:highlight>
                <a:srgbClr val="FFFFFF"/>
              </a:highlight>
              <a:latin typeface="Arial" panose="020B0604020202020204" pitchFamily="34" charset="0"/>
              <a:ea typeface="Roboto"/>
              <a:cs typeface="Arial" panose="020B0604020202020204" pitchFamily="34" charset="0"/>
            </a:endParaRPr>
          </a:p>
          <a:p>
            <a:pPr marL="139700" indent="0" algn="just">
              <a:lnSpc>
                <a:spcPct val="115000"/>
              </a:lnSpc>
              <a:spcBef>
                <a:spcPts val="0"/>
              </a:spcBef>
              <a:buClr>
                <a:schemeClr val="dk1"/>
              </a:buClr>
              <a:buSzPts val="1400"/>
              <a:buNone/>
            </a:pPr>
            <a:endParaRPr lang="en-US" sz="1400" dirty="0">
              <a:solidFill>
                <a:srgbClr val="222222"/>
              </a:solidFill>
              <a:highlight>
                <a:srgbClr val="FFFFFF"/>
              </a:highlight>
            </a:endParaRPr>
          </a:p>
          <a:p>
            <a:pPr marL="425450" indent="-285750" algn="just">
              <a:lnSpc>
                <a:spcPct val="114999"/>
              </a:lnSpc>
              <a:spcBef>
                <a:spcPts val="0"/>
              </a:spcBef>
              <a:buClr>
                <a:schemeClr val="dk1"/>
              </a:buClr>
              <a:buSzPts val="1400"/>
              <a:buFont typeface="Arial"/>
              <a:buChar char="•"/>
            </a:pPr>
            <a:endParaRPr lang="en-US" sz="1400" dirty="0">
              <a:solidFill>
                <a:srgbClr val="222222"/>
              </a:solidFill>
              <a:highlight>
                <a:srgbClr val="FFFFFF"/>
              </a:highlight>
            </a:endParaRPr>
          </a:p>
          <a:p>
            <a:pPr marL="139700" indent="0" algn="just">
              <a:lnSpc>
                <a:spcPct val="114999"/>
              </a:lnSpc>
              <a:spcBef>
                <a:spcPts val="0"/>
              </a:spcBef>
              <a:buClr>
                <a:schemeClr val="dk1"/>
              </a:buClr>
              <a:buSzPts val="1400"/>
              <a:buNone/>
            </a:pPr>
            <a:endParaRPr lang="en-US" sz="1400" dirty="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400" dirty="0">
              <a:solidFill>
                <a:srgbClr val="222222"/>
              </a:solidFill>
              <a:highlight>
                <a:srgbClr val="FFFFFF"/>
              </a:highlight>
            </a:endParaRPr>
          </a:p>
          <a:p>
            <a:pPr indent="-317500" algn="just">
              <a:lnSpc>
                <a:spcPct val="114999"/>
              </a:lnSpc>
              <a:spcBef>
                <a:spcPts val="0"/>
              </a:spcBef>
              <a:buClr>
                <a:srgbClr val="28292B"/>
              </a:buClr>
              <a:buSzPts val="1400"/>
              <a:buFont typeface="Arial"/>
              <a:buChar char="•"/>
            </a:pPr>
            <a:endParaRPr lang="en-US" sz="1200" dirty="0">
              <a:solidFill>
                <a:srgbClr val="222222"/>
              </a:solidFill>
              <a:highlight>
                <a:srgbClr val="FFFFFF"/>
              </a:highlight>
            </a:endParaRPr>
          </a:p>
          <a:p>
            <a:pPr indent="-317500" algn="just">
              <a:lnSpc>
                <a:spcPct val="115000"/>
              </a:lnSpc>
              <a:spcBef>
                <a:spcPts val="0"/>
              </a:spcBef>
              <a:buClr>
                <a:srgbClr val="28292B"/>
              </a:buClr>
              <a:buSzPts val="1400"/>
              <a:buFont typeface="Arial"/>
              <a:buChar char="•"/>
            </a:pPr>
            <a:endParaRPr lang="en-US" sz="1400" dirty="0">
              <a:solidFill>
                <a:srgbClr val="28292B"/>
              </a:solidFill>
              <a:highlight>
                <a:srgbClr val="FFFFFF"/>
              </a:highlight>
            </a:endParaRPr>
          </a:p>
          <a:p>
            <a:pPr indent="-114300">
              <a:spcBef>
                <a:spcPts val="0"/>
              </a:spcBef>
              <a:buFont typeface="Arial" panose="020B0604020202020204" pitchFamily="34" charset="0"/>
              <a:buNone/>
            </a:pPr>
            <a:endParaRPr lang="en-US" dirty="0"/>
          </a:p>
        </p:txBody>
      </p:sp>
    </p:spTree>
    <p:extLst>
      <p:ext uri="{BB962C8B-B14F-4D97-AF65-F5344CB8AC3E}">
        <p14:creationId xmlns:p14="http://schemas.microsoft.com/office/powerpoint/2010/main" val="2724964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Evaluation</a:t>
            </a:r>
          </a:p>
        </p:txBody>
      </p:sp>
      <p:sp>
        <p:nvSpPr>
          <p:cNvPr id="3" name="Google Shape;337;g27476ab32b1_0_16">
            <a:extLst>
              <a:ext uri="{FF2B5EF4-FFF2-40B4-BE49-F238E27FC236}">
                <a16:creationId xmlns:a16="http://schemas.microsoft.com/office/drawing/2014/main" id="{7C677D16-8A71-2F6D-DD8B-AF68F58EDAFB}"/>
              </a:ext>
            </a:extLst>
          </p:cNvPr>
          <p:cNvSpPr txBox="1">
            <a:spLocks/>
          </p:cNvSpPr>
          <p:nvPr/>
        </p:nvSpPr>
        <p:spPr>
          <a:xfrm>
            <a:off x="670559" y="923012"/>
            <a:ext cx="10764647" cy="5724188"/>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Clr>
                <a:srgbClr val="D6001C"/>
              </a:buClr>
              <a:buNone/>
            </a:pPr>
            <a:r>
              <a:rPr lang="en-US" sz="1600" b="0" i="0" dirty="0">
                <a:solidFill>
                  <a:srgbClr val="242424"/>
                </a:solidFill>
                <a:effectLst/>
                <a:highlight>
                  <a:srgbClr val="FFFFFF"/>
                </a:highlight>
                <a:latin typeface="Arial" panose="020B0604020202020204" pitchFamily="34" charset="0"/>
                <a:cs typeface="Arial" panose="020B0604020202020204" pitchFamily="34" charset="0"/>
              </a:rPr>
              <a:t>Currently, determining the right evaluation metrics and collecting good validation data is an active research field. As this is a quickly evolving topic, we are currently witnessing the appearance of various approaches for RAG evaluation frameworks, such as the</a:t>
            </a:r>
          </a:p>
          <a:p>
            <a:pPr marL="0" indent="0" algn="just">
              <a:buClr>
                <a:srgbClr val="D6001C"/>
              </a:buClr>
              <a:buNone/>
            </a:pPr>
            <a:endParaRPr lang="en-US" sz="1600" dirty="0">
              <a:solidFill>
                <a:srgbClr val="242424"/>
              </a:solidFill>
              <a:highlight>
                <a:srgbClr val="FFFFFF"/>
              </a:highlight>
              <a:latin typeface="Arial" panose="020B0604020202020204" pitchFamily="34" charset="0"/>
              <a:cs typeface="Arial" panose="020B0604020202020204" pitchFamily="34" charset="0"/>
            </a:endParaRP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RAG Triad of metrics</a:t>
            </a: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 RAGAs Score</a:t>
            </a:r>
          </a:p>
          <a:p>
            <a:pPr indent="-114300">
              <a:spcBef>
                <a:spcPts val="0"/>
              </a:spcBef>
              <a:buFont typeface="Arial" panose="020B0604020202020204" pitchFamily="34" charset="0"/>
              <a:buNone/>
            </a:pPr>
            <a:endParaRPr lang="en-US" sz="1600" dirty="0">
              <a:solidFill>
                <a:schemeClr val="dk1"/>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5000"/>
              </a:lnSpc>
              <a:spcBef>
                <a:spcPts val="0"/>
              </a:spcBef>
              <a:buClr>
                <a:srgbClr val="28292B"/>
              </a:buClr>
              <a:buSzPts val="1400"/>
              <a:buFont typeface="Arial"/>
              <a:buChar char="•"/>
            </a:pPr>
            <a:endParaRPr lang="en-US" sz="1600" dirty="0">
              <a:solidFill>
                <a:srgbClr val="28292B"/>
              </a:solidFill>
              <a:highlight>
                <a:srgbClr val="FFFFFF"/>
              </a:highlight>
              <a:latin typeface="Arial" panose="020B0604020202020204" pitchFamily="34" charset="0"/>
              <a:cs typeface="Arial" panose="020B0604020202020204" pitchFamily="34" charset="0"/>
            </a:endParaRPr>
          </a:p>
          <a:p>
            <a:pPr indent="-114300">
              <a:spcBef>
                <a:spcPts val="0"/>
              </a:spcBef>
              <a:buFont typeface="Arial" panose="020B0604020202020204" pitchFamily="34" charset="0"/>
              <a:buNone/>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6829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Evaluation</a:t>
            </a:r>
          </a:p>
        </p:txBody>
      </p:sp>
      <p:sp>
        <p:nvSpPr>
          <p:cNvPr id="3" name="Google Shape;337;g27476ab32b1_0_16">
            <a:extLst>
              <a:ext uri="{FF2B5EF4-FFF2-40B4-BE49-F238E27FC236}">
                <a16:creationId xmlns:a16="http://schemas.microsoft.com/office/drawing/2014/main" id="{7C677D16-8A71-2F6D-DD8B-AF68F58EDAFB}"/>
              </a:ext>
            </a:extLst>
          </p:cNvPr>
          <p:cNvSpPr txBox="1">
            <a:spLocks/>
          </p:cNvSpPr>
          <p:nvPr/>
        </p:nvSpPr>
        <p:spPr>
          <a:xfrm>
            <a:off x="670560" y="923012"/>
            <a:ext cx="5181600" cy="5724188"/>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chemeClr val="tx1"/>
              </a:buClr>
              <a:buFont typeface="Wingdings" panose="05000000000000000000" pitchFamily="2" charset="2"/>
              <a:buChar char="q"/>
            </a:pPr>
            <a:r>
              <a:rPr lang="en-US" sz="1600" b="0" i="0" dirty="0">
                <a:solidFill>
                  <a:srgbClr val="000000"/>
                </a:solidFill>
                <a:effectLst/>
                <a:highlight>
                  <a:srgbClr val="FDFDFD"/>
                </a:highlight>
                <a:latin typeface="Arial" panose="020B0604020202020204" pitchFamily="34" charset="0"/>
                <a:cs typeface="Arial" panose="020B0604020202020204" pitchFamily="34" charset="0"/>
              </a:rPr>
              <a:t>Evaluating the retrieval component of RAG in the context of LLMs involves assessing how effectively the system retrieves relevant information to support the generation of accurate ,reliable  and contextually appropriate responses.</a:t>
            </a:r>
          </a:p>
          <a:p>
            <a:pPr algn="just">
              <a:buClr>
                <a:schemeClr val="tx1"/>
              </a:buClr>
              <a:buFont typeface="Wingdings" panose="05000000000000000000" pitchFamily="2" charset="2"/>
              <a:buChar char="q"/>
            </a:pPr>
            <a:r>
              <a:rPr lang="en-US" sz="1600" b="0" dirty="0">
                <a:solidFill>
                  <a:srgbClr val="242424"/>
                </a:solidFill>
                <a:effectLst/>
                <a:highlight>
                  <a:srgbClr val="FFFFFF"/>
                </a:highlight>
                <a:latin typeface="Arial" panose="020B0604020202020204" pitchFamily="34" charset="0"/>
                <a:cs typeface="Arial" panose="020B0604020202020204" pitchFamily="34" charset="0"/>
              </a:rPr>
              <a:t>These evaluations help detect hallucinations in LLM responses by ensuring that context is relevant, responses are grounded, and answers align with user queries.</a:t>
            </a:r>
            <a:endParaRPr lang="en-US" sz="1600" b="0" dirty="0">
              <a:solidFill>
                <a:srgbClr val="000000"/>
              </a:solidFill>
              <a:effectLst/>
              <a:highlight>
                <a:srgbClr val="FDFDFD"/>
              </a:highlight>
              <a:latin typeface="Arial" panose="020B0604020202020204" pitchFamily="34" charset="0"/>
              <a:cs typeface="Arial" panose="020B0604020202020204" pitchFamily="34" charset="0"/>
            </a:endParaRPr>
          </a:p>
          <a:p>
            <a:pPr algn="just">
              <a:buClr>
                <a:schemeClr val="tx1"/>
              </a:buClr>
              <a:buFont typeface="Wingdings" panose="05000000000000000000" pitchFamily="2" charset="2"/>
              <a:buChar char="q"/>
            </a:pPr>
            <a:r>
              <a:rPr lang="en-US" sz="1600" b="0" dirty="0">
                <a:solidFill>
                  <a:srgbClr val="242424"/>
                </a:solidFill>
                <a:effectLst/>
                <a:highlight>
                  <a:srgbClr val="FFFFFF"/>
                </a:highlight>
                <a:latin typeface="Arial" panose="020B0604020202020204" pitchFamily="34" charset="0"/>
                <a:cs typeface="Arial" panose="020B0604020202020204" pitchFamily="34" charset="0"/>
              </a:rPr>
              <a:t>Evaluation metrics respond only as a number from 0 to 1 where 0 is the least relevant and 1 is the most relevant</a:t>
            </a:r>
          </a:p>
          <a:p>
            <a:pPr algn="just">
              <a:buClr>
                <a:schemeClr val="tx1"/>
              </a:buClr>
              <a:buFont typeface="Wingdings" panose="05000000000000000000" pitchFamily="2" charset="2"/>
              <a:buChar char="q"/>
            </a:pPr>
            <a:r>
              <a:rPr lang="en-US" sz="1600" dirty="0">
                <a:solidFill>
                  <a:srgbClr val="242424"/>
                </a:solidFill>
                <a:highlight>
                  <a:srgbClr val="FFFFFF"/>
                </a:highlight>
                <a:latin typeface="Arial" panose="020B0604020202020204" pitchFamily="34" charset="0"/>
                <a:cs typeface="Arial" panose="020B0604020202020204" pitchFamily="34" charset="0"/>
              </a:rPr>
              <a:t>Tools :</a:t>
            </a:r>
            <a:r>
              <a:rPr lang="en-IN" sz="1600" b="0" i="0" dirty="0" err="1">
                <a:solidFill>
                  <a:srgbClr val="242424"/>
                </a:solidFill>
                <a:effectLst/>
                <a:highlight>
                  <a:srgbClr val="FFFFFF"/>
                </a:highlight>
                <a:latin typeface="Arial" panose="020B0604020202020204" pitchFamily="34" charset="0"/>
                <a:cs typeface="Arial" panose="020B0604020202020204" pitchFamily="34" charset="0"/>
              </a:rPr>
              <a:t>TruLens</a:t>
            </a:r>
            <a:endParaRPr lang="en-US" sz="1600" b="0" dirty="0">
              <a:solidFill>
                <a:srgbClr val="000000"/>
              </a:solidFill>
              <a:effectLst/>
              <a:highlight>
                <a:srgbClr val="FDFDFD"/>
              </a:highlight>
              <a:latin typeface="Arial" panose="020B0604020202020204" pitchFamily="34" charset="0"/>
              <a:cs typeface="Arial" panose="020B0604020202020204" pitchFamily="34" charset="0"/>
            </a:endParaRPr>
          </a:p>
          <a:p>
            <a:pPr marL="0" indent="0" algn="just">
              <a:buClr>
                <a:srgbClr val="D6001C"/>
              </a:buClr>
              <a:buNone/>
            </a:pPr>
            <a:endParaRPr lang="en-US" sz="1600" b="1" dirty="0">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indent="-114300">
              <a:spcBef>
                <a:spcPts val="0"/>
              </a:spcBef>
              <a:buFont typeface="Arial" panose="020B0604020202020204" pitchFamily="34" charset="0"/>
              <a:buNone/>
            </a:pPr>
            <a:endParaRPr lang="en-US" sz="1600" dirty="0">
              <a:solidFill>
                <a:schemeClr val="dk1"/>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5000"/>
              </a:lnSpc>
              <a:spcBef>
                <a:spcPts val="0"/>
              </a:spcBef>
              <a:buClr>
                <a:srgbClr val="28292B"/>
              </a:buClr>
              <a:buSzPts val="1400"/>
              <a:buFont typeface="Arial"/>
              <a:buChar char="•"/>
            </a:pPr>
            <a:endParaRPr lang="en-US" sz="1600" dirty="0">
              <a:solidFill>
                <a:srgbClr val="28292B"/>
              </a:solidFill>
              <a:highlight>
                <a:srgbClr val="FFFFFF"/>
              </a:highlight>
              <a:latin typeface="Arial" panose="020B0604020202020204" pitchFamily="34" charset="0"/>
              <a:cs typeface="Arial" panose="020B0604020202020204" pitchFamily="34" charset="0"/>
            </a:endParaRPr>
          </a:p>
          <a:p>
            <a:pPr indent="-114300">
              <a:spcBef>
                <a:spcPts val="0"/>
              </a:spcBef>
              <a:buFont typeface="Arial" panose="020B0604020202020204" pitchFamily="34" charset="0"/>
              <a:buNone/>
            </a:pPr>
            <a:endParaRPr lang="en-US" sz="1600" dirty="0">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1FC3660D-4CF2-6E7D-DDEE-3A9CE7A38D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6480" y="29028"/>
            <a:ext cx="5638800" cy="6647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B73F9E7-272D-AADF-A7B5-2E195ED8D617}"/>
              </a:ext>
            </a:extLst>
          </p:cNvPr>
          <p:cNvPicPr>
            <a:picLocks noChangeAspect="1"/>
          </p:cNvPicPr>
          <p:nvPr/>
        </p:nvPicPr>
        <p:blipFill>
          <a:blip r:embed="rId3"/>
          <a:stretch>
            <a:fillRect/>
          </a:stretch>
        </p:blipFill>
        <p:spPr>
          <a:xfrm>
            <a:off x="213361" y="4580275"/>
            <a:ext cx="5638800" cy="2066925"/>
          </a:xfrm>
          <a:prstGeom prst="rect">
            <a:avLst/>
          </a:prstGeom>
        </p:spPr>
      </p:pic>
    </p:spTree>
    <p:extLst>
      <p:ext uri="{BB962C8B-B14F-4D97-AF65-F5344CB8AC3E}">
        <p14:creationId xmlns:p14="http://schemas.microsoft.com/office/powerpoint/2010/main" val="3864206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TRIAD Evaluation Metrics example</a:t>
            </a:r>
          </a:p>
        </p:txBody>
      </p:sp>
      <p:sp>
        <p:nvSpPr>
          <p:cNvPr id="3" name="Google Shape;337;g27476ab32b1_0_16">
            <a:extLst>
              <a:ext uri="{FF2B5EF4-FFF2-40B4-BE49-F238E27FC236}">
                <a16:creationId xmlns:a16="http://schemas.microsoft.com/office/drawing/2014/main" id="{7C677D16-8A71-2F6D-DD8B-AF68F58EDAFB}"/>
              </a:ext>
            </a:extLst>
          </p:cNvPr>
          <p:cNvSpPr txBox="1">
            <a:spLocks/>
          </p:cNvSpPr>
          <p:nvPr/>
        </p:nvSpPr>
        <p:spPr>
          <a:xfrm>
            <a:off x="670170" y="1117600"/>
            <a:ext cx="5425830" cy="504952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indent="-114300">
              <a:spcBef>
                <a:spcPts val="0"/>
              </a:spcBef>
              <a:buFont typeface="Arial" panose="020B0604020202020204" pitchFamily="34" charset="0"/>
              <a:buNone/>
            </a:pPr>
            <a:endParaRPr lang="en-US" sz="1600" dirty="0">
              <a:solidFill>
                <a:schemeClr val="dk1"/>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5000"/>
              </a:lnSpc>
              <a:spcBef>
                <a:spcPts val="0"/>
              </a:spcBef>
              <a:buClr>
                <a:srgbClr val="28292B"/>
              </a:buClr>
              <a:buSzPts val="1400"/>
              <a:buFont typeface="Arial"/>
              <a:buChar char="•"/>
            </a:pPr>
            <a:endParaRPr lang="en-US" sz="1600" dirty="0">
              <a:solidFill>
                <a:srgbClr val="28292B"/>
              </a:solidFill>
              <a:highlight>
                <a:srgbClr val="FFFFFF"/>
              </a:highlight>
              <a:latin typeface="Arial" panose="020B0604020202020204" pitchFamily="34" charset="0"/>
              <a:cs typeface="Arial" panose="020B0604020202020204" pitchFamily="34" charset="0"/>
            </a:endParaRPr>
          </a:p>
          <a:p>
            <a:pPr indent="-114300">
              <a:spcBef>
                <a:spcPts val="0"/>
              </a:spcBef>
              <a:buFont typeface="Arial" panose="020B0604020202020204" pitchFamily="34" charset="0"/>
              <a:buNone/>
            </a:pPr>
            <a:endParaRPr lang="en-US" sz="1600" dirty="0">
              <a:latin typeface="Arial" panose="020B0604020202020204" pitchFamily="34" charset="0"/>
              <a:cs typeface="Arial" panose="020B0604020202020204" pitchFamily="34" charset="0"/>
            </a:endParaRPr>
          </a:p>
        </p:txBody>
      </p:sp>
      <p:pic>
        <p:nvPicPr>
          <p:cNvPr id="4100" name="Picture 4">
            <a:extLst>
              <a:ext uri="{FF2B5EF4-FFF2-40B4-BE49-F238E27FC236}">
                <a16:creationId xmlns:a16="http://schemas.microsoft.com/office/drawing/2014/main" id="{A2836FCD-D4FD-2A47-1507-5EAA36824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 y="1117600"/>
            <a:ext cx="5364480" cy="5484532"/>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04E11E2F-77C2-B63F-A86F-A12C4FA921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8880" y="1117600"/>
            <a:ext cx="5364480" cy="548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688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Evaluation</a:t>
            </a:r>
          </a:p>
        </p:txBody>
      </p:sp>
      <p:sp>
        <p:nvSpPr>
          <p:cNvPr id="3" name="Google Shape;337;g27476ab32b1_0_16">
            <a:extLst>
              <a:ext uri="{FF2B5EF4-FFF2-40B4-BE49-F238E27FC236}">
                <a16:creationId xmlns:a16="http://schemas.microsoft.com/office/drawing/2014/main" id="{7C677D16-8A71-2F6D-DD8B-AF68F58EDAFB}"/>
              </a:ext>
            </a:extLst>
          </p:cNvPr>
          <p:cNvSpPr txBox="1">
            <a:spLocks/>
          </p:cNvSpPr>
          <p:nvPr/>
        </p:nvSpPr>
        <p:spPr>
          <a:xfrm>
            <a:off x="670560" y="923012"/>
            <a:ext cx="5181600" cy="5724188"/>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chemeClr val="tx1"/>
              </a:buClr>
              <a:buFont typeface="Wingdings" panose="05000000000000000000" pitchFamily="2" charset="2"/>
              <a:buChar char="q"/>
            </a:pPr>
            <a:r>
              <a:rPr lang="en-US" sz="1600" b="0" dirty="0">
                <a:solidFill>
                  <a:srgbClr val="000000"/>
                </a:solidFill>
                <a:effectLst/>
                <a:highlight>
                  <a:srgbClr val="FDFDFD"/>
                </a:highlight>
                <a:latin typeface="Arial" panose="020B0604020202020204" pitchFamily="34" charset="0"/>
                <a:cs typeface="Arial" panose="020B0604020202020204" pitchFamily="34" charset="0"/>
              </a:rPr>
              <a:t>Ragas metrics to evaluate retrieval: offers context relevancy and context recall which give you the measure of the performance of your retrieval system.</a:t>
            </a:r>
          </a:p>
          <a:p>
            <a:pPr algn="just">
              <a:buClr>
                <a:schemeClr val="tx1"/>
              </a:buClr>
              <a:buFont typeface="Wingdings" panose="05000000000000000000" pitchFamily="2" charset="2"/>
              <a:buChar char="q"/>
            </a:pPr>
            <a:r>
              <a:rPr lang="en-US" sz="1600" b="0" dirty="0">
                <a:solidFill>
                  <a:srgbClr val="000000"/>
                </a:solidFill>
                <a:effectLst/>
                <a:highlight>
                  <a:srgbClr val="FDFDFD"/>
                </a:highlight>
                <a:latin typeface="Arial" panose="020B0604020202020204" pitchFamily="34" charset="0"/>
                <a:cs typeface="Arial" panose="020B0604020202020204" pitchFamily="34" charset="0"/>
              </a:rPr>
              <a:t>Ragas metrics to evaluate generation: offers faithfulness which measures hallucinations and answer relevancy which measures how to the point the answers are to the question.</a:t>
            </a:r>
          </a:p>
          <a:p>
            <a:pPr algn="just">
              <a:buClr>
                <a:schemeClr val="tx1"/>
              </a:buClr>
              <a:buFont typeface="Wingdings" panose="05000000000000000000" pitchFamily="2" charset="2"/>
              <a:buChar char="q"/>
            </a:pPr>
            <a:r>
              <a:rPr lang="en-US" sz="1600" b="0" dirty="0">
                <a:solidFill>
                  <a:srgbClr val="000000"/>
                </a:solidFill>
                <a:effectLst/>
                <a:highlight>
                  <a:srgbClr val="FDFDFD"/>
                </a:highlight>
                <a:latin typeface="Arial" panose="020B0604020202020204" pitchFamily="34" charset="0"/>
                <a:cs typeface="Arial" panose="020B0604020202020204" pitchFamily="34" charset="0"/>
              </a:rPr>
              <a:t>The harmonic mean of these 4 aspects gives you the </a:t>
            </a:r>
            <a:r>
              <a:rPr lang="en-US" sz="1600" b="1" dirty="0">
                <a:solidFill>
                  <a:srgbClr val="000000"/>
                </a:solidFill>
                <a:effectLst/>
                <a:highlight>
                  <a:srgbClr val="FDFDFD"/>
                </a:highlight>
                <a:latin typeface="Arial" panose="020B0604020202020204" pitchFamily="34" charset="0"/>
                <a:cs typeface="Arial" panose="020B0604020202020204" pitchFamily="34" charset="0"/>
              </a:rPr>
              <a:t>ragas score </a:t>
            </a:r>
            <a:r>
              <a:rPr lang="en-US" sz="1600" b="0" dirty="0">
                <a:solidFill>
                  <a:srgbClr val="000000"/>
                </a:solidFill>
                <a:effectLst/>
                <a:highlight>
                  <a:srgbClr val="FDFDFD"/>
                </a:highlight>
                <a:latin typeface="Arial" panose="020B0604020202020204" pitchFamily="34" charset="0"/>
                <a:cs typeface="Arial" panose="020B0604020202020204" pitchFamily="34" charset="0"/>
              </a:rPr>
              <a:t>which is a single measure of the performance of your QA system across all the important aspects.</a:t>
            </a:r>
          </a:p>
          <a:p>
            <a:pPr algn="just">
              <a:buClr>
                <a:schemeClr val="tx1"/>
              </a:buClr>
              <a:buFont typeface="Wingdings" panose="05000000000000000000" pitchFamily="2" charset="2"/>
              <a:buChar char="q"/>
            </a:pPr>
            <a:r>
              <a:rPr lang="en-US" sz="1600" b="0" dirty="0">
                <a:solidFill>
                  <a:srgbClr val="242424"/>
                </a:solidFill>
                <a:effectLst/>
                <a:highlight>
                  <a:srgbClr val="FFFFFF"/>
                </a:highlight>
                <a:latin typeface="Arial" panose="020B0604020202020204" pitchFamily="34" charset="0"/>
                <a:cs typeface="Arial" panose="020B0604020202020204" pitchFamily="34" charset="0"/>
              </a:rPr>
              <a:t>Evaluation metrics respond only as a number from 0 </a:t>
            </a:r>
            <a:r>
              <a:rPr lang="en-US" sz="1600" b="0">
                <a:solidFill>
                  <a:srgbClr val="242424"/>
                </a:solidFill>
                <a:effectLst/>
                <a:highlight>
                  <a:srgbClr val="FFFFFF"/>
                </a:highlight>
                <a:latin typeface="Arial" panose="020B0604020202020204" pitchFamily="34" charset="0"/>
                <a:cs typeface="Arial" panose="020B0604020202020204" pitchFamily="34" charset="0"/>
              </a:rPr>
              <a:t>to 1 </a:t>
            </a:r>
            <a:r>
              <a:rPr lang="en-US" sz="1600" b="0" dirty="0">
                <a:solidFill>
                  <a:srgbClr val="242424"/>
                </a:solidFill>
                <a:effectLst/>
                <a:highlight>
                  <a:srgbClr val="FFFFFF"/>
                </a:highlight>
                <a:latin typeface="Arial" panose="020B0604020202020204" pitchFamily="34" charset="0"/>
                <a:cs typeface="Arial" panose="020B0604020202020204" pitchFamily="34" charset="0"/>
              </a:rPr>
              <a:t>where 0 is the least relevant </a:t>
            </a:r>
            <a:r>
              <a:rPr lang="en-US" sz="1600" b="0">
                <a:solidFill>
                  <a:srgbClr val="242424"/>
                </a:solidFill>
                <a:effectLst/>
                <a:highlight>
                  <a:srgbClr val="FFFFFF"/>
                </a:highlight>
                <a:latin typeface="Arial" panose="020B0604020202020204" pitchFamily="34" charset="0"/>
                <a:cs typeface="Arial" panose="020B0604020202020204" pitchFamily="34" charset="0"/>
              </a:rPr>
              <a:t>and 1 </a:t>
            </a:r>
            <a:r>
              <a:rPr lang="en-US" sz="1600" b="0" dirty="0">
                <a:solidFill>
                  <a:srgbClr val="242424"/>
                </a:solidFill>
                <a:effectLst/>
                <a:highlight>
                  <a:srgbClr val="FFFFFF"/>
                </a:highlight>
                <a:latin typeface="Arial" panose="020B0604020202020204" pitchFamily="34" charset="0"/>
                <a:cs typeface="Arial" panose="020B0604020202020204" pitchFamily="34" charset="0"/>
              </a:rPr>
              <a:t>is the most relevant</a:t>
            </a:r>
          </a:p>
          <a:p>
            <a:pPr algn="just">
              <a:buClr>
                <a:schemeClr val="tx1"/>
              </a:buClr>
              <a:buFont typeface="Wingdings" panose="05000000000000000000" pitchFamily="2" charset="2"/>
              <a:buChar char="q"/>
            </a:pPr>
            <a:r>
              <a:rPr lang="en-US" sz="1600" dirty="0">
                <a:solidFill>
                  <a:srgbClr val="242424"/>
                </a:solidFill>
                <a:highlight>
                  <a:srgbClr val="FFFFFF"/>
                </a:highlight>
                <a:latin typeface="Arial" panose="020B0604020202020204" pitchFamily="34" charset="0"/>
                <a:cs typeface="Arial" panose="020B0604020202020204" pitchFamily="34" charset="0"/>
              </a:rPr>
              <a:t>Tools :</a:t>
            </a:r>
            <a:r>
              <a:rPr lang="en-IN" sz="1600" dirty="0">
                <a:solidFill>
                  <a:srgbClr val="242424"/>
                </a:solidFill>
                <a:highlight>
                  <a:srgbClr val="FFFFFF"/>
                </a:highlight>
                <a:latin typeface="Arial" panose="020B0604020202020204" pitchFamily="34" charset="0"/>
                <a:cs typeface="Arial" panose="020B0604020202020204" pitchFamily="34" charset="0"/>
              </a:rPr>
              <a:t>Ragas</a:t>
            </a:r>
            <a:endParaRPr lang="en-US" sz="1600" b="0" dirty="0">
              <a:solidFill>
                <a:srgbClr val="000000"/>
              </a:solidFill>
              <a:effectLst/>
              <a:highlight>
                <a:srgbClr val="FDFDFD"/>
              </a:highlight>
              <a:latin typeface="Arial" panose="020B0604020202020204" pitchFamily="34" charset="0"/>
              <a:cs typeface="Arial" panose="020B0604020202020204" pitchFamily="34" charset="0"/>
            </a:endParaRPr>
          </a:p>
          <a:p>
            <a:pPr marL="0" indent="0" algn="just">
              <a:buClr>
                <a:srgbClr val="D6001C"/>
              </a:buClr>
              <a:buNone/>
            </a:pPr>
            <a:endParaRPr lang="en-US" sz="1600" b="1" dirty="0">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indent="-114300">
              <a:spcBef>
                <a:spcPts val="0"/>
              </a:spcBef>
              <a:buFont typeface="Arial" panose="020B0604020202020204" pitchFamily="34" charset="0"/>
              <a:buNone/>
            </a:pPr>
            <a:endParaRPr lang="en-US" sz="1600" dirty="0">
              <a:solidFill>
                <a:schemeClr val="dk1"/>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5000"/>
              </a:lnSpc>
              <a:spcBef>
                <a:spcPts val="0"/>
              </a:spcBef>
              <a:buClr>
                <a:srgbClr val="28292B"/>
              </a:buClr>
              <a:buSzPts val="1400"/>
              <a:buFont typeface="Arial"/>
              <a:buChar char="•"/>
            </a:pPr>
            <a:endParaRPr lang="en-US" sz="1600" dirty="0">
              <a:solidFill>
                <a:srgbClr val="28292B"/>
              </a:solidFill>
              <a:highlight>
                <a:srgbClr val="FFFFFF"/>
              </a:highlight>
              <a:latin typeface="Arial" panose="020B0604020202020204" pitchFamily="34" charset="0"/>
              <a:cs typeface="Arial" panose="020B0604020202020204" pitchFamily="34" charset="0"/>
            </a:endParaRPr>
          </a:p>
          <a:p>
            <a:pPr indent="-114300">
              <a:spcBef>
                <a:spcPts val="0"/>
              </a:spcBef>
              <a:buFont typeface="Arial" panose="020B0604020202020204" pitchFamily="34" charset="0"/>
              <a:buNone/>
            </a:pPr>
            <a:endParaRPr lang="en-US" sz="1600" dirty="0">
              <a:latin typeface="Arial" panose="020B0604020202020204" pitchFamily="34" charset="0"/>
              <a:cs typeface="Arial" panose="020B0604020202020204" pitchFamily="34" charset="0"/>
            </a:endParaRPr>
          </a:p>
        </p:txBody>
      </p:sp>
      <p:pic>
        <p:nvPicPr>
          <p:cNvPr id="7170" name="Picture 2">
            <a:extLst>
              <a:ext uri="{FF2B5EF4-FFF2-40B4-BE49-F238E27FC236}">
                <a16:creationId xmlns:a16="http://schemas.microsoft.com/office/drawing/2014/main" id="{B7C0E57D-C7A5-0F2D-700A-01AE22FDA3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1441" y="409575"/>
            <a:ext cx="4788534" cy="603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5890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Evaluation</a:t>
            </a:r>
          </a:p>
        </p:txBody>
      </p:sp>
      <p:pic>
        <p:nvPicPr>
          <p:cNvPr id="6146" name="Picture 2">
            <a:extLst>
              <a:ext uri="{FF2B5EF4-FFF2-40B4-BE49-F238E27FC236}">
                <a16:creationId xmlns:a16="http://schemas.microsoft.com/office/drawing/2014/main" id="{936814E2-C22F-57A4-EF65-DCA214E7C4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47520"/>
            <a:ext cx="12192000" cy="511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342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Example </a:t>
            </a:r>
          </a:p>
        </p:txBody>
      </p:sp>
      <p:sp>
        <p:nvSpPr>
          <p:cNvPr id="3" name="Google Shape;337;g27476ab32b1_0_16">
            <a:extLst>
              <a:ext uri="{FF2B5EF4-FFF2-40B4-BE49-F238E27FC236}">
                <a16:creationId xmlns:a16="http://schemas.microsoft.com/office/drawing/2014/main" id="{7C677D16-8A71-2F6D-DD8B-AF68F58EDAFB}"/>
              </a:ext>
            </a:extLst>
          </p:cNvPr>
          <p:cNvSpPr txBox="1">
            <a:spLocks/>
          </p:cNvSpPr>
          <p:nvPr/>
        </p:nvSpPr>
        <p:spPr>
          <a:xfrm>
            <a:off x="670170" y="1117600"/>
            <a:ext cx="11095110" cy="514096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None/>
            </a:pPr>
            <a:endParaRPr lang="en-US" sz="1600" b="1" dirty="0">
              <a:solidFill>
                <a:srgbClr val="232F3E"/>
              </a:solidFill>
              <a:latin typeface="Arial" panose="020B0604020202020204" pitchFamily="34" charset="0"/>
              <a:cs typeface="Arial" panose="020B0604020202020204" pitchFamily="34" charset="0"/>
            </a:endParaRP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hlinkClick r:id="rId2"/>
              </a:rPr>
              <a:t>https://medium.aiplanet.com/evaluate-rag-pipeline-using-ragas-fbdd8dd466c1</a:t>
            </a: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hlinkClick r:id="rId3"/>
              </a:rPr>
              <a:t>https://www.trulens.org/trulens_eval/getting_started/quickstarts/langchain_quickstart/#retrieve-records-and-feedback</a:t>
            </a:r>
            <a:endParaRPr lang="en-US" sz="1600" b="1" dirty="0">
              <a:highlight>
                <a:srgbClr val="FFFFFF"/>
              </a:highlight>
              <a:latin typeface="Arial" panose="020B0604020202020204" pitchFamily="34" charset="0"/>
              <a:ea typeface="Roboto"/>
              <a:cs typeface="Arial" panose="020B0604020202020204" pitchFamily="34" charset="0"/>
            </a:endParaRP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hlinkClick r:id="rId4"/>
              </a:rPr>
              <a:t>https://www.trulens.org/trulens_eval/getting_started/quickstarts/llama_index_quickstart/</a:t>
            </a: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114300" indent="0">
              <a:spcBef>
                <a:spcPts val="0"/>
              </a:spcBef>
              <a:buNone/>
            </a:pPr>
            <a:endParaRPr lang="en-US" sz="1600" dirty="0">
              <a:solidFill>
                <a:schemeClr val="dk1"/>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5000"/>
              </a:lnSpc>
              <a:spcBef>
                <a:spcPts val="0"/>
              </a:spcBef>
              <a:buClr>
                <a:srgbClr val="28292B"/>
              </a:buClr>
              <a:buSzPts val="1400"/>
              <a:buFont typeface="Arial"/>
              <a:buChar char="•"/>
            </a:pPr>
            <a:endParaRPr lang="en-US" sz="1600" dirty="0">
              <a:solidFill>
                <a:srgbClr val="28292B"/>
              </a:solidFill>
              <a:highlight>
                <a:srgbClr val="FFFFFF"/>
              </a:highlight>
              <a:latin typeface="Arial" panose="020B0604020202020204" pitchFamily="34" charset="0"/>
              <a:cs typeface="Arial" panose="020B0604020202020204" pitchFamily="34" charset="0"/>
            </a:endParaRPr>
          </a:p>
          <a:p>
            <a:pPr indent="-114300">
              <a:spcBef>
                <a:spcPts val="0"/>
              </a:spcBef>
              <a:buFont typeface="Arial" panose="020B0604020202020204" pitchFamily="34" charset="0"/>
              <a:buNone/>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51757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Benefits </a:t>
            </a:r>
          </a:p>
        </p:txBody>
      </p:sp>
      <p:sp>
        <p:nvSpPr>
          <p:cNvPr id="3" name="Google Shape;337;g27476ab32b1_0_16">
            <a:extLst>
              <a:ext uri="{FF2B5EF4-FFF2-40B4-BE49-F238E27FC236}">
                <a16:creationId xmlns:a16="http://schemas.microsoft.com/office/drawing/2014/main" id="{7C677D16-8A71-2F6D-DD8B-AF68F58EDAFB}"/>
              </a:ext>
            </a:extLst>
          </p:cNvPr>
          <p:cNvSpPr txBox="1">
            <a:spLocks/>
          </p:cNvSpPr>
          <p:nvPr/>
        </p:nvSpPr>
        <p:spPr>
          <a:xfrm>
            <a:off x="670170" y="1117600"/>
            <a:ext cx="11095110" cy="514096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None/>
            </a:pPr>
            <a:endParaRPr lang="en-US" sz="1600" b="1" dirty="0">
              <a:solidFill>
                <a:srgbClr val="232F3E"/>
              </a:solidFill>
              <a:latin typeface="Arial" panose="020B0604020202020204" pitchFamily="34" charset="0"/>
              <a:cs typeface="Arial" panose="020B0604020202020204" pitchFamily="34" charset="0"/>
            </a:endParaRPr>
          </a:p>
          <a:p>
            <a:pPr algn="just">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Enhanced Relevance: </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Incorporates external knowledge for more contextually relevant responses.</a:t>
            </a: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algn="just">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Improved Quality: Enhances</a:t>
            </a:r>
            <a:r>
              <a:rPr lang="en-US" sz="1600" dirty="0">
                <a:solidFill>
                  <a:schemeClr val="tx1"/>
                </a:solidFill>
                <a:latin typeface="Arial" panose="020B0604020202020204" pitchFamily="34" charset="0"/>
                <a:ea typeface="Roboto"/>
                <a:cs typeface="Arial" panose="020B0604020202020204" pitchFamily="34" charset="0"/>
              </a:rPr>
              <a:t> the quality and accuracy  of generated output.</a:t>
            </a: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Versatility</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 </a:t>
            </a:r>
            <a:r>
              <a:rPr lang="en-US" sz="1600" dirty="0">
                <a:solidFill>
                  <a:schemeClr val="tx1"/>
                </a:solidFill>
                <a:latin typeface="Arial" panose="020B0604020202020204" pitchFamily="34" charset="0"/>
                <a:ea typeface="Roboto"/>
                <a:cs typeface="Arial" panose="020B0604020202020204" pitchFamily="34" charset="0"/>
              </a:rPr>
              <a:t>Adaptable to various tasks and domains without task-specific fine-tuning.</a:t>
            </a: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Efficient Retrieval</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 </a:t>
            </a:r>
            <a:r>
              <a:rPr lang="en-US" sz="1600" dirty="0">
                <a:solidFill>
                  <a:schemeClr val="tx1"/>
                </a:solidFill>
                <a:latin typeface="Arial" panose="020B0604020202020204" pitchFamily="34" charset="0"/>
                <a:ea typeface="Roboto"/>
                <a:cs typeface="Arial" panose="020B0604020202020204" pitchFamily="34" charset="0"/>
              </a:rPr>
              <a:t>Leverages existing knowledge bases, reducing the need for large labeled datasets.</a:t>
            </a: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Dynamic Updates</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 </a:t>
            </a:r>
            <a:r>
              <a:rPr lang="en-US" sz="1600" dirty="0">
                <a:solidFill>
                  <a:schemeClr val="tx1"/>
                </a:solidFill>
                <a:latin typeface="Arial" panose="020B0604020202020204" pitchFamily="34" charset="0"/>
                <a:ea typeface="Roboto"/>
                <a:cs typeface="Arial" panose="020B0604020202020204" pitchFamily="34" charset="0"/>
              </a:rPr>
              <a:t>Allows for real-time or periodic updates to maintain current information.</a:t>
            </a: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Trust and Transparency: </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Accurate and reliable responses, underpinned by current and authoritative data, significantly enhance user trust in AI-driven applications.</a:t>
            </a:r>
            <a:endParaRPr lang="en-US" sz="1600" dirty="0">
              <a:solidFill>
                <a:schemeClr val="tx1"/>
              </a:solidFill>
              <a:latin typeface="Arial" panose="020B0604020202020204" pitchFamily="34" charset="0"/>
              <a:cs typeface="Arial" panose="020B0604020202020204" pitchFamily="34" charset="0"/>
            </a:endParaRP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Customization and Control: </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Organizations can tailor the external sources RAG draws from, allowing control over the type and scope of information integrated into the model’s responses</a:t>
            </a:r>
            <a:endParaRPr lang="en-US" sz="1600" dirty="0">
              <a:solidFill>
                <a:schemeClr val="tx1"/>
              </a:solidFill>
              <a:latin typeface="Arial" panose="020B0604020202020204" pitchFamily="34" charset="0"/>
              <a:cs typeface="Arial" panose="020B0604020202020204" pitchFamily="34" charset="0"/>
            </a:endParaRPr>
          </a:p>
          <a:p>
            <a:pPr algn="just">
              <a:buClr>
                <a:schemeClr val="tx1"/>
              </a:buClr>
              <a:buFont typeface="Wingdings" panose="05000000000000000000" pitchFamily="2" charset="2"/>
              <a:buChar char="q"/>
            </a:pPr>
            <a:r>
              <a:rPr lang="en-US" sz="1600" dirty="0">
                <a:solidFill>
                  <a:schemeClr val="tx1"/>
                </a:solidFill>
                <a:highlight>
                  <a:srgbClr val="FFFFFF"/>
                </a:highlight>
                <a:latin typeface="Arial" panose="020B0604020202020204" pitchFamily="34" charset="0"/>
                <a:ea typeface="Roboto"/>
                <a:cs typeface="Arial" panose="020B0604020202020204" pitchFamily="34" charset="0"/>
              </a:rPr>
              <a:t> </a:t>
            </a: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Cost Effective</a:t>
            </a: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indent="-114300">
              <a:spcBef>
                <a:spcPts val="0"/>
              </a:spcBef>
              <a:buFont typeface="Arial" panose="020B0604020202020204" pitchFamily="34" charset="0"/>
              <a:buNone/>
            </a:pPr>
            <a:endParaRPr lang="en-US" sz="1600" dirty="0">
              <a:solidFill>
                <a:schemeClr val="dk1"/>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5000"/>
              </a:lnSpc>
              <a:spcBef>
                <a:spcPts val="0"/>
              </a:spcBef>
              <a:buClr>
                <a:srgbClr val="28292B"/>
              </a:buClr>
              <a:buSzPts val="1400"/>
              <a:buFont typeface="Arial"/>
              <a:buChar char="•"/>
            </a:pPr>
            <a:endParaRPr lang="en-US" sz="1600" dirty="0">
              <a:solidFill>
                <a:srgbClr val="28292B"/>
              </a:solidFill>
              <a:highlight>
                <a:srgbClr val="FFFFFF"/>
              </a:highlight>
              <a:latin typeface="Arial" panose="020B0604020202020204" pitchFamily="34" charset="0"/>
              <a:cs typeface="Arial" panose="020B0604020202020204" pitchFamily="34" charset="0"/>
            </a:endParaRPr>
          </a:p>
          <a:p>
            <a:pPr indent="-114300">
              <a:spcBef>
                <a:spcPts val="0"/>
              </a:spcBef>
              <a:buFont typeface="Arial" panose="020B0604020202020204" pitchFamily="34" charset="0"/>
              <a:buNone/>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9602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36;g27476ab32b1_0_16">
            <a:extLst>
              <a:ext uri="{FF2B5EF4-FFF2-40B4-BE49-F238E27FC236}">
                <a16:creationId xmlns:a16="http://schemas.microsoft.com/office/drawing/2014/main" id="{9CEF04D6-7EEC-A1AB-7AD9-9740921233E9}"/>
              </a:ext>
            </a:extLst>
          </p:cNvPr>
          <p:cNvSpPr txBox="1">
            <a:spLocks/>
          </p:cNvSpPr>
          <p:nvPr/>
        </p:nvSpPr>
        <p:spPr>
          <a:xfrm>
            <a:off x="396240" y="384212"/>
            <a:ext cx="10764647" cy="538800"/>
          </a:xfrm>
          <a:prstGeom prst="rect">
            <a:avLst/>
          </a:prstGeom>
          <a:noFill/>
          <a:ln>
            <a:noFill/>
          </a:ln>
        </p:spPr>
        <p:txBody>
          <a:bodyPr spcFirstLastPara="1" wrap="square" lIns="91425" tIns="45700" rIns="91425" bIns="457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RAG Open-source tools</a:t>
            </a:r>
          </a:p>
        </p:txBody>
      </p:sp>
      <p:sp>
        <p:nvSpPr>
          <p:cNvPr id="3" name="Google Shape;337;g27476ab32b1_0_16">
            <a:extLst>
              <a:ext uri="{FF2B5EF4-FFF2-40B4-BE49-F238E27FC236}">
                <a16:creationId xmlns:a16="http://schemas.microsoft.com/office/drawing/2014/main" id="{7C677D16-8A71-2F6D-DD8B-AF68F58EDAFB}"/>
              </a:ext>
            </a:extLst>
          </p:cNvPr>
          <p:cNvSpPr txBox="1">
            <a:spLocks/>
          </p:cNvSpPr>
          <p:nvPr/>
        </p:nvSpPr>
        <p:spPr>
          <a:xfrm>
            <a:off x="670170" y="1117600"/>
            <a:ext cx="11095110" cy="495808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chemeClr val="tx1"/>
              </a:buClr>
              <a:buFont typeface="Wingdings" panose="05000000000000000000" pitchFamily="2" charset="2"/>
              <a:buChar char="q"/>
            </a:pPr>
            <a:r>
              <a:rPr lang="en-US" sz="1600" b="1" dirty="0" err="1">
                <a:solidFill>
                  <a:schemeClr val="tx1"/>
                </a:solidFill>
                <a:highlight>
                  <a:srgbClr val="FFFFFF"/>
                </a:highlight>
                <a:latin typeface="Arial" panose="020B0604020202020204" pitchFamily="34" charset="0"/>
                <a:ea typeface="Roboto"/>
                <a:cs typeface="Arial" panose="020B0604020202020204" pitchFamily="34" charset="0"/>
              </a:rPr>
              <a:t>LangChain</a:t>
            </a: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 </a:t>
            </a:r>
            <a:r>
              <a:rPr lang="en-US" sz="1600" dirty="0" err="1">
                <a:solidFill>
                  <a:schemeClr val="tx1"/>
                </a:solidFill>
                <a:highlight>
                  <a:srgbClr val="FFFFFF"/>
                </a:highlight>
                <a:latin typeface="Arial" panose="020B0604020202020204" pitchFamily="34" charset="0"/>
                <a:ea typeface="Roboto"/>
                <a:cs typeface="Arial" panose="020B0604020202020204" pitchFamily="34" charset="0"/>
              </a:rPr>
              <a:t>LangChain</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 is a versatile Python library that simplifies the development of applications involving large language models, including RAG implementations. It provides a modular and extensible architecture, allowing developers to easily integrate different components, such as retrieval systems, knowledge bases, and generation models.</a:t>
            </a:r>
          </a:p>
          <a:p>
            <a:pPr algn="just">
              <a:buClr>
                <a:schemeClr val="tx1"/>
              </a:buClr>
              <a:buFont typeface="Wingdings" panose="05000000000000000000" pitchFamily="2" charset="2"/>
              <a:buChar char="q"/>
            </a:pPr>
            <a:r>
              <a:rPr lang="en-US" sz="1600" b="1" dirty="0" err="1">
                <a:solidFill>
                  <a:schemeClr val="tx1"/>
                </a:solidFill>
                <a:highlight>
                  <a:srgbClr val="FFFFFF"/>
                </a:highlight>
                <a:latin typeface="Arial" panose="020B0604020202020204" pitchFamily="34" charset="0"/>
                <a:ea typeface="Roboto"/>
                <a:cs typeface="Arial" panose="020B0604020202020204" pitchFamily="34" charset="0"/>
              </a:rPr>
              <a:t>LlamaIndex</a:t>
            </a: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 </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Developed by Anthropic, </a:t>
            </a:r>
            <a:r>
              <a:rPr lang="en-US" sz="1600" dirty="0" err="1">
                <a:solidFill>
                  <a:schemeClr val="tx1"/>
                </a:solidFill>
                <a:highlight>
                  <a:srgbClr val="FFFFFF"/>
                </a:highlight>
                <a:latin typeface="Arial" panose="020B0604020202020204" pitchFamily="34" charset="0"/>
                <a:ea typeface="Roboto"/>
                <a:cs typeface="Arial" panose="020B0604020202020204" pitchFamily="34" charset="0"/>
              </a:rPr>
              <a:t>LlamaIndex</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 is a Python library that facilitates the creation of RAG systems. It offers a user-friendly interface for indexing and querying various data sources, making it easier to integrate external knowledge into language models.</a:t>
            </a:r>
            <a:endParaRPr lang="en-US" sz="1600" dirty="0">
              <a:highlight>
                <a:srgbClr val="FFFFFF"/>
              </a:highlight>
              <a:latin typeface="Arial" panose="020B0604020202020204" pitchFamily="34" charset="0"/>
              <a:ea typeface="Roboto"/>
              <a:cs typeface="Arial" panose="020B0604020202020204" pitchFamily="34" charset="0"/>
            </a:endParaRP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RAG on Hugging Face Transformers: </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Hugging Face, a leading provider of open-source natural language processing (NLP) tools, has integrated RAG functionality into their Transformers library. This integration allows developers to leverage pre-trained language models and combine them with retrieval systems, enabling the creation of RAG models with minimal effort.</a:t>
            </a: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REALM Library: </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Developed by Google AI, the REALM (Retrieval-Enhanced Language Model) library provides a framework for building and evaluating RAG models. It offers a modular design, allowing researchers and developers to experiment with different retrieval and generation components, as well as various knowledge sources.</a:t>
            </a:r>
          </a:p>
          <a:p>
            <a:pPr algn="just">
              <a:buClr>
                <a:schemeClr val="tx1"/>
              </a:buClr>
              <a:buFont typeface="Wingdings" panose="05000000000000000000" pitchFamily="2" charset="2"/>
              <a:buChar char="q"/>
            </a:pP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NVIDIA </a:t>
            </a:r>
            <a:r>
              <a:rPr lang="en-US" sz="1600" b="1" dirty="0" err="1">
                <a:solidFill>
                  <a:schemeClr val="tx1"/>
                </a:solidFill>
                <a:highlight>
                  <a:srgbClr val="FFFFFF"/>
                </a:highlight>
                <a:latin typeface="Arial" panose="020B0604020202020204" pitchFamily="34" charset="0"/>
                <a:ea typeface="Roboto"/>
                <a:cs typeface="Arial" panose="020B0604020202020204" pitchFamily="34" charset="0"/>
              </a:rPr>
              <a:t>NeMo</a:t>
            </a:r>
            <a:r>
              <a:rPr lang="en-US" sz="1600" b="1" dirty="0">
                <a:solidFill>
                  <a:schemeClr val="tx1"/>
                </a:solidFill>
                <a:highlight>
                  <a:srgbClr val="FFFFFF"/>
                </a:highlight>
                <a:latin typeface="Arial" panose="020B0604020202020204" pitchFamily="34" charset="0"/>
                <a:ea typeface="Roboto"/>
                <a:cs typeface="Arial" panose="020B0604020202020204" pitchFamily="34" charset="0"/>
              </a:rPr>
              <a:t> Guardrails: </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NVIDIA’s </a:t>
            </a:r>
            <a:r>
              <a:rPr lang="en-US" sz="1600" dirty="0" err="1">
                <a:solidFill>
                  <a:schemeClr val="tx1"/>
                </a:solidFill>
                <a:highlight>
                  <a:srgbClr val="FFFFFF"/>
                </a:highlight>
                <a:latin typeface="Arial" panose="020B0604020202020204" pitchFamily="34" charset="0"/>
                <a:ea typeface="Roboto"/>
                <a:cs typeface="Arial" panose="020B0604020202020204" pitchFamily="34" charset="0"/>
              </a:rPr>
              <a:t>NeMo</a:t>
            </a:r>
            <a:r>
              <a:rPr lang="en-US" sz="1600" dirty="0">
                <a:solidFill>
                  <a:schemeClr val="tx1"/>
                </a:solidFill>
                <a:highlight>
                  <a:srgbClr val="FFFFFF"/>
                </a:highlight>
                <a:latin typeface="Arial" panose="020B0604020202020204" pitchFamily="34" charset="0"/>
                <a:ea typeface="Roboto"/>
                <a:cs typeface="Arial" panose="020B0604020202020204" pitchFamily="34" charset="0"/>
              </a:rPr>
              <a:t> Guardrails is a toolkit designed to enhance the safety and reliability of language models. It includes RAG capabilities, enabling developers to incorporate external knowledge sources into their models, improving the accuracy and trustworthiness of generated outputs.</a:t>
            </a:r>
          </a:p>
          <a:p>
            <a:pPr marL="0" indent="0" algn="just">
              <a:buClr>
                <a:srgbClr val="D6001C"/>
              </a:buClr>
              <a:buNone/>
            </a:pPr>
            <a:endParaRPr lang="en-US" sz="1600"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highlight>
                <a:srgbClr val="FFFFFF"/>
              </a:highlight>
              <a:latin typeface="Arial" panose="020B0604020202020204" pitchFamily="34" charset="0"/>
              <a:ea typeface="Roboto"/>
              <a:cs typeface="Arial" panose="020B0604020202020204" pitchFamily="34" charset="0"/>
            </a:endParaRPr>
          </a:p>
          <a:p>
            <a:pPr marL="0" indent="0" algn="just">
              <a:buClr>
                <a:srgbClr val="D6001C"/>
              </a:buClr>
              <a:buNone/>
            </a:pPr>
            <a:endParaRPr lang="en-US" sz="1600" b="1" dirty="0">
              <a:solidFill>
                <a:schemeClr val="tx1"/>
              </a:solidFill>
              <a:highlight>
                <a:srgbClr val="FFFFFF"/>
              </a:highlight>
              <a:latin typeface="Arial" panose="020B0604020202020204" pitchFamily="34" charset="0"/>
              <a:ea typeface="Roboto"/>
              <a:cs typeface="Arial" panose="020B0604020202020204" pitchFamily="34" charset="0"/>
            </a:endParaRPr>
          </a:p>
          <a:p>
            <a:pPr indent="-114300">
              <a:spcBef>
                <a:spcPts val="0"/>
              </a:spcBef>
              <a:buFont typeface="Arial" panose="020B0604020202020204" pitchFamily="34" charset="0"/>
              <a:buNone/>
            </a:pPr>
            <a:endParaRPr lang="en-US" sz="1600" dirty="0">
              <a:solidFill>
                <a:schemeClr val="dk1"/>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marL="139700" indent="0" algn="just">
              <a:lnSpc>
                <a:spcPct val="114999"/>
              </a:lnSpc>
              <a:spcBef>
                <a:spcPts val="0"/>
              </a:spcBef>
              <a:buClr>
                <a:schemeClr val="dk1"/>
              </a:buClr>
              <a:buSzPts val="1400"/>
              <a:buNone/>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4999"/>
              </a:lnSpc>
              <a:spcBef>
                <a:spcPts val="0"/>
              </a:spcBef>
              <a:buClr>
                <a:srgbClr val="28292B"/>
              </a:buClr>
              <a:buSzPts val="1400"/>
              <a:buFont typeface="Arial"/>
              <a:buChar char="•"/>
            </a:pPr>
            <a:endParaRPr lang="en-US" sz="1600" dirty="0">
              <a:solidFill>
                <a:srgbClr val="222222"/>
              </a:solidFill>
              <a:highlight>
                <a:srgbClr val="FFFFFF"/>
              </a:highlight>
              <a:latin typeface="Arial" panose="020B0604020202020204" pitchFamily="34" charset="0"/>
              <a:cs typeface="Arial" panose="020B0604020202020204" pitchFamily="34" charset="0"/>
            </a:endParaRPr>
          </a:p>
          <a:p>
            <a:pPr indent="-317500" algn="just">
              <a:lnSpc>
                <a:spcPct val="115000"/>
              </a:lnSpc>
              <a:spcBef>
                <a:spcPts val="0"/>
              </a:spcBef>
              <a:buClr>
                <a:srgbClr val="28292B"/>
              </a:buClr>
              <a:buSzPts val="1400"/>
              <a:buFont typeface="Arial"/>
              <a:buChar char="•"/>
            </a:pPr>
            <a:endParaRPr lang="en-US" sz="1600" dirty="0">
              <a:solidFill>
                <a:srgbClr val="28292B"/>
              </a:solidFill>
              <a:highlight>
                <a:srgbClr val="FFFFFF"/>
              </a:highlight>
              <a:latin typeface="Arial" panose="020B0604020202020204" pitchFamily="34" charset="0"/>
              <a:cs typeface="Arial" panose="020B0604020202020204" pitchFamily="34" charset="0"/>
            </a:endParaRPr>
          </a:p>
          <a:p>
            <a:pPr indent="-114300">
              <a:spcBef>
                <a:spcPts val="0"/>
              </a:spcBef>
              <a:buFont typeface="Arial" panose="020B0604020202020204" pitchFamily="34" charset="0"/>
              <a:buNone/>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3626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FD8DC2-8743-AAE4-B899-ABED567D5DB2}"/>
              </a:ext>
            </a:extLst>
          </p:cNvPr>
          <p:cNvSpPr>
            <a:spLocks noGrp="1"/>
          </p:cNvSpPr>
          <p:nvPr>
            <p:ph type="title"/>
          </p:nvPr>
        </p:nvSpPr>
        <p:spPr>
          <a:xfrm>
            <a:off x="363220" y="2887662"/>
            <a:ext cx="11465560" cy="1082675"/>
          </a:xfrm>
        </p:spPr>
        <p:txBody>
          <a:bodyPr>
            <a:normAutofit/>
          </a:bodyPr>
          <a:lstStyle/>
          <a:p>
            <a:r>
              <a:rPr lang="en-IN" sz="5400" dirty="0">
                <a:solidFill>
                  <a:schemeClr val="accent1">
                    <a:lumMod val="50000"/>
                  </a:schemeClr>
                </a:solidFill>
              </a:rPr>
              <a:t>                              </a:t>
            </a:r>
            <a:r>
              <a:rPr lang="en-IN" sz="5400" dirty="0"/>
              <a:t>THANK</a:t>
            </a:r>
            <a:r>
              <a:rPr lang="en-IN" sz="6600" b="1" dirty="0">
                <a:solidFill>
                  <a:schemeClr val="accent1">
                    <a:lumMod val="50000"/>
                  </a:schemeClr>
                </a:solidFill>
              </a:rPr>
              <a:t> </a:t>
            </a:r>
            <a:r>
              <a:rPr lang="en-IN" sz="5400" dirty="0"/>
              <a:t>YOU</a:t>
            </a:r>
            <a:endParaRPr lang="en-IN" dirty="0"/>
          </a:p>
        </p:txBody>
      </p:sp>
    </p:spTree>
    <p:extLst>
      <p:ext uri="{BB962C8B-B14F-4D97-AF65-F5344CB8AC3E}">
        <p14:creationId xmlns:p14="http://schemas.microsoft.com/office/powerpoint/2010/main" val="3586015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1095</TotalTime>
  <Words>1687</Words>
  <Application>Microsoft Office PowerPoint</Application>
  <PresentationFormat>Widescreen</PresentationFormat>
  <Paragraphs>270</Paragraphs>
  <Slides>21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-apple-system</vt:lpstr>
      <vt:lpstr>Aptos</vt:lpstr>
      <vt:lpstr>Aptos Display</vt:lpstr>
      <vt:lpstr>Arial</vt:lpstr>
      <vt:lpstr>helveticaregular</vt:lpstr>
      <vt:lpstr>Roboto</vt:lpstr>
      <vt:lpstr>Wingdings</vt:lpstr>
      <vt:lpstr>Office Theme</vt:lpstr>
      <vt:lpstr>GenAI and Retrieval Augmented Generation -RAG</vt:lpstr>
      <vt:lpstr>What is GenAI </vt:lpstr>
      <vt:lpstr>Types of GenAI </vt:lpstr>
      <vt:lpstr>GAN and VAE</vt:lpstr>
      <vt:lpstr>What are LLMs </vt:lpstr>
      <vt:lpstr>How are LLMs used </vt:lpstr>
      <vt:lpstr>What is RAG</vt:lpstr>
      <vt:lpstr>Retrieval-Augmented Generation (RAG)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Narkhede</dc:creator>
  <cp:lastModifiedBy>Rahul Narkhede</cp:lastModifiedBy>
  <cp:revision>16</cp:revision>
  <dcterms:created xsi:type="dcterms:W3CDTF">2024-06-13T15:07:25Z</dcterms:created>
  <dcterms:modified xsi:type="dcterms:W3CDTF">2024-06-14T09:23:48Z</dcterms:modified>
</cp:coreProperties>
</file>